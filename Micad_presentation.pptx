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1.jpeg" ContentType="image/jpe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14213D"/>
        </a:fontRef>
        <a:srgbClr val="14213D"/>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4E8"/>
          </a:solidFill>
        </a:fill>
      </a:tcStyle>
    </a:wholeTbl>
    <a:band2H>
      <a:tcTxStyle b="def" i="def"/>
      <a:tcStyle>
        <a:tcBdr/>
        <a:fill>
          <a:solidFill>
            <a:srgbClr val="E7EB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14213D"/>
        </a:fontRef>
        <a:srgbClr val="14213D"/>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FDA"/>
          </a:solidFill>
        </a:fill>
      </a:tcStyle>
    </a:wholeTbl>
    <a:band2H>
      <a:tcTxStyle b="def" i="def"/>
      <a:tcStyle>
        <a:tcBdr/>
        <a:fill>
          <a:solidFill>
            <a:srgbClr val="E7E8E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14213D"/>
        </a:fontRef>
        <a:srgbClr val="14213D"/>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3D8"/>
          </a:solidFill>
        </a:fill>
      </a:tcStyle>
    </a:wholeTbl>
    <a:band2H>
      <a:tcTxStyle b="def" i="def"/>
      <a:tcStyle>
        <a:tcBdr/>
        <a:fill>
          <a:solidFill>
            <a:srgbClr val="E9EA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14213D"/>
        </a:fontRef>
        <a:srgbClr val="14213D"/>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8"/>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14213D"/>
        </a:fontRef>
        <a:srgbClr val="14213D"/>
      </a:tcTxStyle>
      <a:tcStyle>
        <a:tcBdr>
          <a:left>
            <a:ln w="12700" cap="flat">
              <a:noFill/>
              <a:miter lim="400000"/>
            </a:ln>
          </a:left>
          <a:right>
            <a:ln w="12700" cap="flat">
              <a:noFill/>
              <a:miter lim="400000"/>
            </a:ln>
          </a:right>
          <a:top>
            <a:ln w="50800" cap="flat">
              <a:solidFill>
                <a:srgbClr val="14213D"/>
              </a:solidFill>
              <a:prstDash val="solid"/>
              <a:round/>
            </a:ln>
          </a:top>
          <a:bottom>
            <a:ln w="25400" cap="flat">
              <a:solidFill>
                <a:srgbClr val="14213D"/>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14213D"/>
              </a:solidFill>
              <a:prstDash val="solid"/>
              <a:round/>
            </a:ln>
          </a:top>
          <a:bottom>
            <a:ln w="25400" cap="flat">
              <a:solidFill>
                <a:srgbClr val="14213D"/>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14213D"/>
        </a:fontRef>
        <a:srgbClr val="14213D"/>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D"/>
          </a:solidFill>
        </a:fill>
      </a:tcStyle>
    </a:wholeTbl>
    <a:band2H>
      <a:tcTxStyle b="def" i="def"/>
      <a:tcStyle>
        <a:tcBdr/>
        <a:fill>
          <a:solidFill>
            <a:srgbClr val="E7E7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4213D"/>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4213D"/>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4213D"/>
          </a:solidFill>
        </a:fill>
      </a:tcStyle>
    </a:firstRow>
  </a:tblStyle>
  <a:tblStyle styleId="{2708684C-4D16-4618-839F-0558EEFCDFE6}" styleName="">
    <a:tblBg/>
    <a:wholeTbl>
      <a:tcTxStyle b="off" i="off">
        <a:fontRef idx="major">
          <a:srgbClr val="14213D"/>
        </a:fontRef>
        <a:srgbClr val="14213D"/>
      </a:tcTxStyle>
      <a:tcStyle>
        <a:tcBdr>
          <a:left>
            <a:ln w="12700" cap="flat">
              <a:solidFill>
                <a:srgbClr val="14213D"/>
              </a:solidFill>
              <a:prstDash val="solid"/>
              <a:round/>
            </a:ln>
          </a:left>
          <a:right>
            <a:ln w="12700" cap="flat">
              <a:solidFill>
                <a:srgbClr val="14213D"/>
              </a:solidFill>
              <a:prstDash val="solid"/>
              <a:round/>
            </a:ln>
          </a:right>
          <a:top>
            <a:ln w="12700" cap="flat">
              <a:solidFill>
                <a:srgbClr val="14213D"/>
              </a:solidFill>
              <a:prstDash val="solid"/>
              <a:round/>
            </a:ln>
          </a:top>
          <a:bottom>
            <a:ln w="12700" cap="flat">
              <a:solidFill>
                <a:srgbClr val="14213D"/>
              </a:solidFill>
              <a:prstDash val="solid"/>
              <a:round/>
            </a:ln>
          </a:bottom>
          <a:insideH>
            <a:ln w="12700" cap="flat">
              <a:solidFill>
                <a:srgbClr val="14213D"/>
              </a:solidFill>
              <a:prstDash val="solid"/>
              <a:round/>
            </a:ln>
          </a:insideH>
          <a:insideV>
            <a:ln w="12700" cap="flat">
              <a:solidFill>
                <a:srgbClr val="14213D"/>
              </a:solidFill>
              <a:prstDash val="solid"/>
              <a:round/>
            </a:ln>
          </a:insideV>
        </a:tcBdr>
        <a:fill>
          <a:solidFill>
            <a:srgbClr val="14213D">
              <a:alpha val="20000"/>
            </a:srgbClr>
          </a:solidFill>
        </a:fill>
      </a:tcStyle>
    </a:wholeTbl>
    <a:band2H>
      <a:tcTxStyle b="def" i="def"/>
      <a:tcStyle>
        <a:tcBdr/>
        <a:fill>
          <a:solidFill>
            <a:srgbClr val="FFFFFF"/>
          </a:solidFill>
        </a:fill>
      </a:tcStyle>
    </a:band2H>
    <a:firstCol>
      <a:tcTxStyle b="on" i="off">
        <a:fontRef idx="major">
          <a:srgbClr val="14213D"/>
        </a:fontRef>
        <a:srgbClr val="14213D"/>
      </a:tcTxStyle>
      <a:tcStyle>
        <a:tcBdr>
          <a:left>
            <a:ln w="12700" cap="flat">
              <a:solidFill>
                <a:srgbClr val="14213D"/>
              </a:solidFill>
              <a:prstDash val="solid"/>
              <a:round/>
            </a:ln>
          </a:left>
          <a:right>
            <a:ln w="12700" cap="flat">
              <a:solidFill>
                <a:srgbClr val="14213D"/>
              </a:solidFill>
              <a:prstDash val="solid"/>
              <a:round/>
            </a:ln>
          </a:right>
          <a:top>
            <a:ln w="12700" cap="flat">
              <a:solidFill>
                <a:srgbClr val="14213D"/>
              </a:solidFill>
              <a:prstDash val="solid"/>
              <a:round/>
            </a:ln>
          </a:top>
          <a:bottom>
            <a:ln w="12700" cap="flat">
              <a:solidFill>
                <a:srgbClr val="14213D"/>
              </a:solidFill>
              <a:prstDash val="solid"/>
              <a:round/>
            </a:ln>
          </a:bottom>
          <a:insideH>
            <a:ln w="12700" cap="flat">
              <a:solidFill>
                <a:srgbClr val="14213D"/>
              </a:solidFill>
              <a:prstDash val="solid"/>
              <a:round/>
            </a:ln>
          </a:insideH>
          <a:insideV>
            <a:ln w="12700" cap="flat">
              <a:solidFill>
                <a:srgbClr val="14213D"/>
              </a:solidFill>
              <a:prstDash val="solid"/>
              <a:round/>
            </a:ln>
          </a:insideV>
        </a:tcBdr>
        <a:fill>
          <a:solidFill>
            <a:srgbClr val="14213D">
              <a:alpha val="20000"/>
            </a:srgbClr>
          </a:solidFill>
        </a:fill>
      </a:tcStyle>
    </a:firstCol>
    <a:lastRow>
      <a:tcTxStyle b="on" i="off">
        <a:fontRef idx="major">
          <a:srgbClr val="14213D"/>
        </a:fontRef>
        <a:srgbClr val="14213D"/>
      </a:tcTxStyle>
      <a:tcStyle>
        <a:tcBdr>
          <a:left>
            <a:ln w="12700" cap="flat">
              <a:solidFill>
                <a:srgbClr val="14213D"/>
              </a:solidFill>
              <a:prstDash val="solid"/>
              <a:round/>
            </a:ln>
          </a:left>
          <a:right>
            <a:ln w="12700" cap="flat">
              <a:solidFill>
                <a:srgbClr val="14213D"/>
              </a:solidFill>
              <a:prstDash val="solid"/>
              <a:round/>
            </a:ln>
          </a:right>
          <a:top>
            <a:ln w="50800" cap="flat">
              <a:solidFill>
                <a:srgbClr val="14213D"/>
              </a:solidFill>
              <a:prstDash val="solid"/>
              <a:round/>
            </a:ln>
          </a:top>
          <a:bottom>
            <a:ln w="12700" cap="flat">
              <a:solidFill>
                <a:srgbClr val="14213D"/>
              </a:solidFill>
              <a:prstDash val="solid"/>
              <a:round/>
            </a:ln>
          </a:bottom>
          <a:insideH>
            <a:ln w="12700" cap="flat">
              <a:solidFill>
                <a:srgbClr val="14213D"/>
              </a:solidFill>
              <a:prstDash val="solid"/>
              <a:round/>
            </a:ln>
          </a:insideH>
          <a:insideV>
            <a:ln w="12700" cap="flat">
              <a:solidFill>
                <a:srgbClr val="14213D"/>
              </a:solidFill>
              <a:prstDash val="solid"/>
              <a:round/>
            </a:ln>
          </a:insideV>
        </a:tcBdr>
        <a:fill>
          <a:noFill/>
        </a:fill>
      </a:tcStyle>
    </a:lastRow>
    <a:firstRow>
      <a:tcTxStyle b="on" i="off">
        <a:fontRef idx="major">
          <a:srgbClr val="14213D"/>
        </a:fontRef>
        <a:srgbClr val="14213D"/>
      </a:tcTxStyle>
      <a:tcStyle>
        <a:tcBdr>
          <a:left>
            <a:ln w="12700" cap="flat">
              <a:solidFill>
                <a:srgbClr val="14213D"/>
              </a:solidFill>
              <a:prstDash val="solid"/>
              <a:round/>
            </a:ln>
          </a:left>
          <a:right>
            <a:ln w="12700" cap="flat">
              <a:solidFill>
                <a:srgbClr val="14213D"/>
              </a:solidFill>
              <a:prstDash val="solid"/>
              <a:round/>
            </a:ln>
          </a:right>
          <a:top>
            <a:ln w="12700" cap="flat">
              <a:solidFill>
                <a:srgbClr val="14213D"/>
              </a:solidFill>
              <a:prstDash val="solid"/>
              <a:round/>
            </a:ln>
          </a:top>
          <a:bottom>
            <a:ln w="25400" cap="flat">
              <a:solidFill>
                <a:srgbClr val="14213D"/>
              </a:solidFill>
              <a:prstDash val="solid"/>
              <a:round/>
            </a:ln>
          </a:bottom>
          <a:insideH>
            <a:ln w="12700" cap="flat">
              <a:solidFill>
                <a:srgbClr val="14213D"/>
              </a:solidFill>
              <a:prstDash val="solid"/>
              <a:round/>
            </a:ln>
          </a:insideH>
          <a:insideV>
            <a:ln w="12700" cap="flat">
              <a:solidFill>
                <a:srgbClr val="14213D"/>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6" name="Shape 36"/>
          <p:cNvSpPr/>
          <p:nvPr>
            <p:ph type="sldImg"/>
          </p:nvPr>
        </p:nvSpPr>
        <p:spPr>
          <a:xfrm>
            <a:off x="1143000" y="685800"/>
            <a:ext cx="4572000" cy="3429000"/>
          </a:xfrm>
          <a:prstGeom prst="rect">
            <a:avLst/>
          </a:prstGeom>
        </p:spPr>
        <p:txBody>
          <a:bodyPr/>
          <a:lstStyle/>
          <a:p>
            <a:pPr/>
          </a:p>
        </p:txBody>
      </p:sp>
      <p:sp>
        <p:nvSpPr>
          <p:cNvPr id="37" name="Shape 3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14213D"/>
        </a:solidFill>
        <a:latin typeface="+mj-lt"/>
        <a:ea typeface="+mj-ea"/>
        <a:cs typeface="+mj-cs"/>
        <a:sym typeface="Calibri"/>
      </a:defRPr>
    </a:lvl1pPr>
    <a:lvl2pPr indent="228600" latinLnBrk="0">
      <a:defRPr sz="1200">
        <a:solidFill>
          <a:srgbClr val="14213D"/>
        </a:solidFill>
        <a:latin typeface="+mj-lt"/>
        <a:ea typeface="+mj-ea"/>
        <a:cs typeface="+mj-cs"/>
        <a:sym typeface="Calibri"/>
      </a:defRPr>
    </a:lvl2pPr>
    <a:lvl3pPr indent="457200" latinLnBrk="0">
      <a:defRPr sz="1200">
        <a:solidFill>
          <a:srgbClr val="14213D"/>
        </a:solidFill>
        <a:latin typeface="+mj-lt"/>
        <a:ea typeface="+mj-ea"/>
        <a:cs typeface="+mj-cs"/>
        <a:sym typeface="Calibri"/>
      </a:defRPr>
    </a:lvl3pPr>
    <a:lvl4pPr indent="685800" latinLnBrk="0">
      <a:defRPr sz="1200">
        <a:solidFill>
          <a:srgbClr val="14213D"/>
        </a:solidFill>
        <a:latin typeface="+mj-lt"/>
        <a:ea typeface="+mj-ea"/>
        <a:cs typeface="+mj-cs"/>
        <a:sym typeface="Calibri"/>
      </a:defRPr>
    </a:lvl4pPr>
    <a:lvl5pPr indent="914400" latinLnBrk="0">
      <a:defRPr sz="1200">
        <a:solidFill>
          <a:srgbClr val="14213D"/>
        </a:solidFill>
        <a:latin typeface="+mj-lt"/>
        <a:ea typeface="+mj-ea"/>
        <a:cs typeface="+mj-cs"/>
        <a:sym typeface="Calibri"/>
      </a:defRPr>
    </a:lvl5pPr>
    <a:lvl6pPr indent="1143000" latinLnBrk="0">
      <a:defRPr sz="1200">
        <a:solidFill>
          <a:srgbClr val="14213D"/>
        </a:solidFill>
        <a:latin typeface="+mj-lt"/>
        <a:ea typeface="+mj-ea"/>
        <a:cs typeface="+mj-cs"/>
        <a:sym typeface="Calibri"/>
      </a:defRPr>
    </a:lvl6pPr>
    <a:lvl7pPr indent="1371600" latinLnBrk="0">
      <a:defRPr sz="1200">
        <a:solidFill>
          <a:srgbClr val="14213D"/>
        </a:solidFill>
        <a:latin typeface="+mj-lt"/>
        <a:ea typeface="+mj-ea"/>
        <a:cs typeface="+mj-cs"/>
        <a:sym typeface="Calibri"/>
      </a:defRPr>
    </a:lvl7pPr>
    <a:lvl8pPr indent="1600200" latinLnBrk="0">
      <a:defRPr sz="1200">
        <a:solidFill>
          <a:srgbClr val="14213D"/>
        </a:solidFill>
        <a:latin typeface="+mj-lt"/>
        <a:ea typeface="+mj-ea"/>
        <a:cs typeface="+mj-cs"/>
        <a:sym typeface="Calibri"/>
      </a:defRPr>
    </a:lvl8pPr>
    <a:lvl9pPr indent="1828800" latinLnBrk="0">
      <a:defRPr sz="1200">
        <a:solidFill>
          <a:srgbClr val="14213D"/>
        </a:solidFill>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 name="Shape 43"/>
          <p:cNvSpPr/>
          <p:nvPr>
            <p:ph type="sldImg"/>
          </p:nvPr>
        </p:nvSpPr>
        <p:spPr>
          <a:prstGeom prst="rect">
            <a:avLst/>
          </a:prstGeom>
        </p:spPr>
        <p:txBody>
          <a:bodyPr/>
          <a:lstStyle/>
          <a:p>
            <a:pPr/>
          </a:p>
        </p:txBody>
      </p:sp>
      <p:sp>
        <p:nvSpPr>
          <p:cNvPr id="44" name="Shape 44"/>
          <p:cNvSpPr/>
          <p:nvPr>
            <p:ph type="body" sz="quarter" idx="1"/>
          </p:nvPr>
        </p:nvSpPr>
        <p:spPr>
          <a:prstGeom prst="rect">
            <a:avLst/>
          </a:prstGeom>
        </p:spPr>
        <p:txBody>
          <a:bodyPr/>
          <a:lstStyle/>
          <a:p>
            <a:pPr/>
            <a:r>
              <a:t>Good afternoon, everyone. I'm going to talk about BISON, which is our approach to separating densely packed nuclei in H&amp;E histopathology images by feeding boundary information into the network at several points, rather than hoping the decoder recovers it. I have about fifteen minutes: first the problem and where existing methods stop, then the three pieces of the model, then the numbers on TNBC, MoNuSeg and CPM-15. (about 30 seconds)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Shape 72"/>
          <p:cNvSpPr/>
          <p:nvPr>
            <p:ph type="sldImg"/>
          </p:nvPr>
        </p:nvSpPr>
        <p:spPr>
          <a:prstGeom prst="rect">
            <a:avLst/>
          </a:prstGeom>
        </p:spPr>
        <p:txBody>
          <a:bodyPr/>
          <a:lstStyle/>
          <a:p>
            <a:pPr/>
          </a:p>
        </p:txBody>
      </p:sp>
      <p:sp>
        <p:nvSpPr>
          <p:cNvPr id="73" name="Shape 73"/>
          <p:cNvSpPr/>
          <p:nvPr>
            <p:ph type="body" sz="quarter" idx="1"/>
          </p:nvPr>
        </p:nvSpPr>
        <p:spPr>
          <a:prstGeom prst="rect">
            <a:avLst/>
          </a:prstGeom>
        </p:spPr>
        <p:txBody>
          <a:bodyPr/>
          <a:lstStyle/>
          <a:p>
            <a:pPr/>
            <a:r>
              <a:t>Nuclei segmentation in H&amp;E images is the first step for things like cancer grading, sub-typing and prognosis, so errors here travel downstream. It is particularly hard in triple-negative breast cancer: nuclei differ a lot in size, shape and chromatin texture, they sit very close or overlap, and the contrast against stroma is often poor because of how the tissue was prepared and stained.</a:t>
            </a:r>
          </a:p>
          <a:p>
            <a:pPr/>
          </a:p>
          <a:p>
            <a:pPr/>
            <a:r>
              <a:t>A plain U-Net gives good pixel-level accuracy but tends to merge touching nuclei into one region. HoVer-Net handles this by predicting horizontal and vertical distance maps and running watershed, which is the idea we build on. But the downsampling inside any encoder-decoder still removes the high-frequency detail that sharp boundaries need. The small schematic on the right is just the merge problem in one picture. (about 1 minute)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Shape 93"/>
          <p:cNvSpPr/>
          <p:nvPr>
            <p:ph type="sldImg"/>
          </p:nvPr>
        </p:nvSpPr>
        <p:spPr>
          <a:prstGeom prst="rect">
            <a:avLst/>
          </a:prstGeom>
        </p:spPr>
        <p:txBody>
          <a:bodyPr/>
          <a:lstStyle/>
          <a:p>
            <a:pPr/>
          </a:p>
        </p:txBody>
      </p:sp>
      <p:sp>
        <p:nvSpPr>
          <p:cNvPr id="94" name="Shape 94"/>
          <p:cNvSpPr/>
          <p:nvPr>
            <p:ph type="body" sz="quarter" idx="1"/>
          </p:nvPr>
        </p:nvSpPr>
        <p:spPr>
          <a:prstGeom prst="rect">
            <a:avLst/>
          </a:prstGeom>
        </p:spPr>
        <p:txBody>
          <a:bodyPr/>
          <a:lstStyle/>
          <a:p>
            <a:pPr/>
            <a:r>
              <a:t>Recent work attacks the problem from several directions. SAAMU-Net stabilises skip connections with selective attention and a memory module. DyGLNet uses dynamic upsampling with phase alignment for boundary consistency. VEGAN is a GAN that takes an edge map into an attention U-Net generator. WDRE-Net is aimed at weak supervision from point labels. EViT-UNet is about efficiency, DeltaSegment learns from change between quantised and full-resolution inputs, and AFINITI uses separate heads for instance probability, shape and class.</a:t>
            </a:r>
          </a:p>
          <a:p>
            <a:pPr/>
          </a:p>
          <a:p>
            <a:pPr/>
            <a:r>
              <a:t>All of these are useful, but the trade-off between deep semantic abstraction and fine boundary preservation is still there. That is the gap BISON is built for. (about 45 seconds)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Shape 113"/>
          <p:cNvSpPr/>
          <p:nvPr>
            <p:ph type="sldImg"/>
          </p:nvPr>
        </p:nvSpPr>
        <p:spPr>
          <a:prstGeom prst="rect">
            <a:avLst/>
          </a:prstGeom>
        </p:spPr>
        <p:txBody>
          <a:bodyPr/>
          <a:lstStyle/>
          <a:p>
            <a:pPr/>
          </a:p>
        </p:txBody>
      </p:sp>
      <p:sp>
        <p:nvSpPr>
          <p:cNvPr id="114" name="Shape 114"/>
          <p:cNvSpPr/>
          <p:nvPr>
            <p:ph type="body" sz="quarter" idx="1"/>
          </p:nvPr>
        </p:nvSpPr>
        <p:spPr>
          <a:prstGeom prst="rect">
            <a:avLst/>
          </a:prstGeom>
        </p:spPr>
        <p:txBody>
          <a:bodyPr/>
          <a:lstStyle/>
          <a:p>
            <a:pPr/>
            <a:r>
              <a:t>We make three contributions. First, the Spatial Boundary-Aware attention module: it adds a fixed geometric boundary similarity to the usual visual similarity, so that attention follows edges. Second, the Scharr gate before the bottleneck, which boosts exactly the high-frequency edge content that the heavy spatial compression would otherwise wash out. Third, the training objective: a Boundary Consistency Loss based on fixed differential operators, and a mean squared gradient error on the offset fields so instance separation stays geometrically smooth.</a:t>
            </a:r>
          </a:p>
          <a:p>
            <a:pPr/>
          </a:p>
          <a:p>
            <a:pPr/>
            <a:r>
              <a:t>The strip at the bottom is the outcome, Dice, IoU and AJI on the three datasets. I'll come back to these later. (about 45 seconds)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Shape 132"/>
          <p:cNvSpPr/>
          <p:nvPr>
            <p:ph type="sldImg"/>
          </p:nvPr>
        </p:nvSpPr>
        <p:spPr>
          <a:prstGeom prst="rect">
            <a:avLst/>
          </a:prstGeom>
        </p:spPr>
        <p:txBody>
          <a:bodyPr/>
          <a:lstStyle/>
          <a:p>
            <a:pPr/>
          </a:p>
        </p:txBody>
      </p:sp>
      <p:sp>
        <p:nvSpPr>
          <p:cNvPr id="133" name="Shape 133"/>
          <p:cNvSpPr/>
          <p:nvPr>
            <p:ph type="body" sz="quarter" idx="1"/>
          </p:nvPr>
        </p:nvSpPr>
        <p:spPr>
          <a:prstGeom prst="rect">
            <a:avLst/>
          </a:prstGeom>
        </p:spPr>
        <p:txBody>
          <a:bodyPr/>
          <a:lstStyle/>
          <a:p>
            <a:pPr/>
            <a:r>
              <a:t>This is the whole model. On the left is a ResNet encoder with four stages, 64 up to 512 channels, with max-pooling between stages. The pre-pooling map of each stage is kept as a skip. At the bottom is the bottleneck, which is where most of our additions sit: the Scharr gate, then ASPP, then SBA attention, all at 32 by 32.</a:t>
            </a:r>
          </a:p>
          <a:p>
            <a:pPr/>
          </a:p>
          <a:p>
            <a:pPr/>
            <a:r>
              <a:t>On the right the decoder mirrors the encoder. Skips are not plain concatenations, they pass through the boundary gate and then an attention gate, which is the pink box in the middle. At the top, the final decoder output feeds a segmentation head and an HV offset head. The segmentation head gives the binary mask, the offsets drive watershed, and the two are fused into the instance mask. I'll go through the pieces in that order. (about 1 minute)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Shape 159"/>
          <p:cNvSpPr/>
          <p:nvPr>
            <p:ph type="sldImg"/>
          </p:nvPr>
        </p:nvSpPr>
        <p:spPr>
          <a:prstGeom prst="rect">
            <a:avLst/>
          </a:prstGeom>
        </p:spPr>
        <p:txBody>
          <a:bodyPr/>
          <a:lstStyle/>
          <a:p>
            <a:pPr/>
          </a:p>
        </p:txBody>
      </p:sp>
      <p:sp>
        <p:nvSpPr>
          <p:cNvPr id="160" name="Shape 160"/>
          <p:cNvSpPr/>
          <p:nvPr>
            <p:ph type="body" sz="quarter" idx="1"/>
          </p:nvPr>
        </p:nvSpPr>
        <p:spPr>
          <a:prstGeom prst="rect">
            <a:avLst/>
          </a:prstGeom>
        </p:spPr>
        <p:txBody>
          <a:bodyPr/>
          <a:lstStyle/>
          <a:p>
            <a:pPr/>
            <a:r>
              <a:t>Pooling weakens boundary detail, so right before the bottleneck we try to protect it. The pooled feature map Z goes through a 1 by 1 convolution to a single grayscale-like channel. Fixed Scharr filters at two dilation scales turn that into a boundary-likeness map B. Then we gate the features residually: Z times one plus gamma B. Gamma is a learnable scalar initialised at 0.1, so where gamma B is close to zero the features pass through untouched, and near edges they are amplified.</a:t>
            </a:r>
          </a:p>
          <a:p>
            <a:pPr/>
          </a:p>
          <a:p>
            <a:pPr/>
            <a:r>
              <a:t>The gated map goes through ASPP with rates 3, 6 and 12, a global-pooling branch and dropout 0.1. ASPP gives multi-scale context but treats every location independently, which is exactly what the next module addresses. (about 1 minute)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a:r>
              <a:t>Visual similarity alone cannot tell apart two pixels with similar texture that sit on opposite sides of a nucleus boundary. So inside the attention softmax we add a second similarity term. Queries, keys and values come from the ASPP output through 1 by 1 convolutions, four heads, and at this resolution we have about a thousand tokens, so the full N by N matrix is affordable. That is why we call it exact softmax attention.</a:t>
            </a:r>
          </a:p>
          <a:p>
            <a:pPr/>
          </a:p>
          <a:p>
            <a:pPr/>
            <a:r>
              <a:t>In parallel, a fixed, non-learnable Scharr boundary descriptor gives each token a six-channel fingerprint, listed on the right. The boundary similarity is just the inner product of those fingerprints, and it is added to the visual similarity with a per-head scalar lambda, squared to keep it positive. As lambda goes to zero we recover ordinary multi-head self-attention. A depthwise 3 by 3 convolution on V adds a local term, and the whole thing is residual. (about 1 minute 30 seconds)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Shape 207"/>
          <p:cNvSpPr/>
          <p:nvPr>
            <p:ph type="sldImg"/>
          </p:nvPr>
        </p:nvSpPr>
        <p:spPr>
          <a:prstGeom prst="rect">
            <a:avLst/>
          </a:prstGeom>
        </p:spPr>
        <p:txBody>
          <a:bodyPr/>
          <a:lstStyle/>
          <a:p>
            <a:pPr/>
          </a:p>
        </p:txBody>
      </p:sp>
      <p:sp>
        <p:nvSpPr>
          <p:cNvPr id="208" name="Shape 208"/>
          <p:cNvSpPr/>
          <p:nvPr>
            <p:ph type="body" sz="quarter" idx="1"/>
          </p:nvPr>
        </p:nvSpPr>
        <p:spPr>
          <a:prstGeom prst="rect">
            <a:avLst/>
          </a:prstGeom>
        </p:spPr>
        <p:txBody>
          <a:bodyPr/>
          <a:lstStyle/>
          <a:p>
            <a:pPr/>
            <a:r>
              <a:t>On the decoder side, we do not simply concatenate the encoder feature. Each skip is filtered in two stages. First a fixed Scharr detector boosts high-frequency content in the encoder feature. Then an attention gate, which follows the Attention U-Net design, suppresses background using the upsampled decoder state. The result is concatenated with the upsampled decoder feature, blended with a 1 by 1 convolution and refined by residual blocks.</a:t>
            </a:r>
          </a:p>
          <a:p>
            <a:pPr/>
          </a:p>
          <a:p>
            <a:pPr/>
            <a:r>
              <a:t>The last decoder output D1 has 32 channels and feeds three things: the segmentation head, which is a 1 by 1 convolution to one logit, thresholded at inference; two auxiliary segmentation heads on decoder stages 2 and 3 for deep supervision; and the HV head, a 1 by 1 convolution to two channels with tanh, predicting offsets toward each instance centroid. (about 1 minute)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Shape 244"/>
          <p:cNvSpPr/>
          <p:nvPr>
            <p:ph type="sldImg"/>
          </p:nvPr>
        </p:nvSpPr>
        <p:spPr>
          <a:prstGeom prst="rect">
            <a:avLst/>
          </a:prstGeom>
        </p:spPr>
        <p:txBody>
          <a:bodyPr/>
          <a:lstStyle/>
          <a:p>
            <a:pPr/>
          </a:p>
        </p:txBody>
      </p:sp>
      <p:sp>
        <p:nvSpPr>
          <p:cNvPr id="245" name="Shape 245"/>
          <p:cNvSpPr/>
          <p:nvPr>
            <p:ph type="body" sz="quarter" idx="1"/>
          </p:nvPr>
        </p:nvSpPr>
        <p:spPr>
          <a:prstGeom prst="rect">
            <a:avLst/>
          </a:prstGeom>
        </p:spPr>
        <p:txBody>
          <a:bodyPr/>
          <a:lstStyle/>
          <a:p>
            <a:pPr/>
            <a:r>
              <a:t>At inference, the segmentation probability map is binarised at a threshold chosen by a 19-value grid search between 0.05 and 0.95, picking whatever maximises validation Dice on cached predictions. That gives the foreground mask M.</a:t>
            </a:r>
          </a:p>
          <a:p>
            <a:pPr/>
          </a:p>
          <a:p>
            <a:pPr/>
            <a:r>
              <a:t>Inside M we need to split touching nuclei. The ground-truth offsets for each pixel are its distance to the instance centroid, normalised per instance. At prediction time we take Sobel gradients of the two offset maps and combine them into an energy surface G. It is low inside a nucleus and spikes where the offset field flips sign at a boundary. Pixels with low normalised gradient, below 0.4, inside M are eroded with a radius-2 disk to form the seeds. Watershed then floods G from those seeds within M, and we throw away fragments below ten pixels. (about 1 minute)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Shape 267"/>
          <p:cNvSpPr/>
          <p:nvPr>
            <p:ph type="sldImg"/>
          </p:nvPr>
        </p:nvSpPr>
        <p:spPr>
          <a:prstGeom prst="rect">
            <a:avLst/>
          </a:prstGeom>
        </p:spPr>
        <p:txBody>
          <a:bodyPr/>
          <a:lstStyle/>
          <a:p>
            <a:pPr/>
          </a:p>
        </p:txBody>
      </p:sp>
      <p:sp>
        <p:nvSpPr>
          <p:cNvPr id="268" name="Shape 268"/>
          <p:cNvSpPr/>
          <p:nvPr>
            <p:ph type="body" sz="quarter" idx="1"/>
          </p:nvPr>
        </p:nvSpPr>
        <p:spPr>
          <a:prstGeom prst="rect">
            <a:avLst/>
          </a:prstGeom>
        </p:spPr>
        <p:txBody>
          <a:bodyPr/>
          <a:lstStyle/>
          <a:p>
            <a:pPr/>
            <a:r>
              <a:t>The total loss has three parts. The segmentation term applies to the main prediction at D1 plus the two auxiliary heads at D2 and D3. Each of these is a focal Tversky loss combined with a class-weighted binary cross-entropy. The positive weight is computed automatically from the mean foreground fraction, and capped by zeta so extremely sparse masks do not destabilise training.</a:t>
            </a:r>
          </a:p>
          <a:p>
            <a:pPr/>
          </a:p>
          <a:p>
            <a:pPr/>
            <a:r>
              <a:t>The instance geometry loss follows HoVer-Net: mean squared error on the offsets, plus the mean squared gradient error, which compares spatial gradients of predicted and true offsets over foreground pixels. That second term is what discourages the gradient inconsistencies that hurt watershed.</a:t>
            </a:r>
          </a:p>
          <a:p>
            <a:pPr/>
          </a:p>
          <a:p>
            <a:pPr/>
            <a:r>
              <a:t>Finally, the boundary consistency loss compares Scharr edge responses of the predicted and ground-truth masks, so boundary sharpness is supervised directly, independent of overall area overlap. (about 1 minute 15 seconds)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Shape 304"/>
          <p:cNvSpPr/>
          <p:nvPr>
            <p:ph type="sldImg"/>
          </p:nvPr>
        </p:nvSpPr>
        <p:spPr>
          <a:prstGeom prst="rect">
            <a:avLst/>
          </a:prstGeom>
        </p:spPr>
        <p:txBody>
          <a:bodyPr/>
          <a:lstStyle/>
          <a:p>
            <a:pPr/>
          </a:p>
        </p:txBody>
      </p:sp>
      <p:sp>
        <p:nvSpPr>
          <p:cNvPr id="305" name="Shape 305"/>
          <p:cNvSpPr/>
          <p:nvPr>
            <p:ph type="body" sz="quarter" idx="1"/>
          </p:nvPr>
        </p:nvSpPr>
        <p:spPr>
          <a:prstGeom prst="rect">
            <a:avLst/>
          </a:prstGeom>
        </p:spPr>
        <p:txBody>
          <a:bodyPr/>
          <a:lstStyle/>
          <a:p>
            <a:pPr/>
            <a:r>
              <a:t>We evaluate on three public histopathology datasets: TNBC, MoNuSeg and CPM-15. Dice and IoU measure semantic segmentation, and the aggregated Jaccard index, AJI, measures how well individual instances are separated, so AJI is the number to watch for the touching-nuclei problem.</a:t>
            </a:r>
          </a:p>
          <a:p>
            <a:pPr/>
          </a:p>
          <a:p>
            <a:pPr/>
            <a:r>
              <a:t>Images are resized to 512 by 512 and normalised with ImageNet statistics. We train for 500 epochs with batch size 4, AdamW and a one-cycle schedule, gradient clipping at norm 1, mixed precision, and an exponential moving average of the weights with decay 0.999, which is what we use for validation and testing. Augmentation is the standard set: flips, rotations, affine and colour jitter, blur, noise and random erasing. (about 45 seconds)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Shape 318"/>
          <p:cNvSpPr/>
          <p:nvPr>
            <p:ph type="sldImg"/>
          </p:nvPr>
        </p:nvSpPr>
        <p:spPr>
          <a:prstGeom prst="rect">
            <a:avLst/>
          </a:prstGeom>
        </p:spPr>
        <p:txBody>
          <a:bodyPr/>
          <a:lstStyle/>
          <a:p>
            <a:pPr/>
          </a:p>
        </p:txBody>
      </p:sp>
      <p:sp>
        <p:nvSpPr>
          <p:cNvPr id="319" name="Shape 319"/>
          <p:cNvSpPr/>
          <p:nvPr>
            <p:ph type="body" sz="quarter" idx="1"/>
          </p:nvPr>
        </p:nvSpPr>
        <p:spPr>
          <a:prstGeom prst="rect">
            <a:avLst/>
          </a:prstGeom>
        </p:spPr>
        <p:txBody>
          <a:bodyPr/>
          <a:lstStyle/>
          <a:p>
            <a:pPr/>
            <a:r>
              <a:t>This is the comparison table from the paper, Dice and IoU on each dataset. BISON is best on all three. On TNBC we reach 86.86 Dice and 76.78 IoU, 1.86 Dice points above the strongest baseline, AFINITI. On MoNuSeg we reach 82.28 and 69.89, 0.86 above DeltaSegment. On CPM-15 it is 89.23 and 80.55, 4.23 above AFINITI.</a:t>
            </a:r>
          </a:p>
          <a:p>
            <a:pPr/>
          </a:p>
          <a:p>
            <a:pPr/>
            <a:r>
              <a:t>The largest gain is on CPM-15, which suggests the approach copes well with more heterogeneous tissue morphology. (about 1 minute)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Shape 335"/>
          <p:cNvSpPr/>
          <p:nvPr>
            <p:ph type="sldImg"/>
          </p:nvPr>
        </p:nvSpPr>
        <p:spPr>
          <a:prstGeom prst="rect">
            <a:avLst/>
          </a:prstGeom>
        </p:spPr>
        <p:txBody>
          <a:bodyPr/>
          <a:lstStyle/>
          <a:p>
            <a:pPr/>
          </a:p>
        </p:txBody>
      </p:sp>
      <p:sp>
        <p:nvSpPr>
          <p:cNvPr id="336" name="Shape 336"/>
          <p:cNvSpPr/>
          <p:nvPr>
            <p:ph type="body" sz="quarter" idx="1"/>
          </p:nvPr>
        </p:nvSpPr>
        <p:spPr>
          <a:prstGeom prst="rect">
            <a:avLst/>
          </a:prstGeom>
        </p:spPr>
        <p:txBody>
          <a:bodyPr/>
          <a:lstStyle/>
          <a:p>
            <a:pPr/>
            <a:r>
              <a:t>Here we start from a ResNet-UNet with the HV head and add components one at a time. Table 1 is architecture: A is the pre-bottleneck gate, B is SBA attention, C the attention gates, D the boundary loss. Each row improves every metric on every dataset. SBA attention gives the biggest step, about 4.3 to 4.4 AJI points on all three datasets, which supports the idea that boundary priors matter most for separating touching nuclei.</a:t>
            </a:r>
          </a:p>
          <a:p>
            <a:pPr/>
          </a:p>
          <a:p>
            <a:pPr/>
            <a:r>
              <a:t>Table 2 isolates the loss terms, starting from segmentation loss plus MSE. Deep supervision helps across the board, and adding MSGE gives a large AJI jump, between 3.2 and 3.4 points, which fits the idea that penalising offset-gradient errors helps watershed. The boundary loss gives the last boost.</a:t>
            </a:r>
          </a:p>
          <a:p>
            <a:pPr/>
          </a:p>
          <a:p>
            <a:pPr/>
            <a:r>
              <a:t>We also compared encoders under an identical setup: MobileNet-v2, EfficientNet-B0, SqueezeNet, ResNet-34 and ResNet-50, against our pre-activation ResNet-18. Lightweight backbones lose the high-frequency gradients the boundary losses need, ResNet-50 shows diminishing returns, and ResNet-18 was best. (about 1 minute 30 seconds)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Shape 356"/>
          <p:cNvSpPr/>
          <p:nvPr>
            <p:ph type="sldImg"/>
          </p:nvPr>
        </p:nvSpPr>
        <p:spPr>
          <a:prstGeom prst="rect">
            <a:avLst/>
          </a:prstGeom>
        </p:spPr>
        <p:txBody>
          <a:bodyPr/>
          <a:lstStyle/>
          <a:p>
            <a:pPr/>
          </a:p>
        </p:txBody>
      </p:sp>
      <p:sp>
        <p:nvSpPr>
          <p:cNvPr id="357" name="Shape 357"/>
          <p:cNvSpPr/>
          <p:nvPr>
            <p:ph type="body" sz="quarter" idx="1"/>
          </p:nvPr>
        </p:nvSpPr>
        <p:spPr>
          <a:prstGeom prst="rect">
            <a:avLst/>
          </a:prstGeom>
        </p:spPr>
        <p:txBody>
          <a:bodyPr/>
          <a:lstStyle/>
          <a:p>
            <a:pPr/>
            <a:r>
              <a:t>This figure shows one example from each dataset, top to bottom TNBC, CPM-15 and MoNuSeg. Columns are the input image, the ground-truth mask, the predicted probabilities, the binary mask after thresholding, and a Grad-CAM overlay. The panel titles print the per-image Dice, 0.8965, 0.9039 and 0.8603, and the thresholds used, 0.90, 0.85 and 0.80. You can see the predicted masks follow the ground-truth layout in both the sparse TNBC field and the very dense MoNuSeg field. (about 45 seconds)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Shape 372"/>
          <p:cNvSpPr/>
          <p:nvPr>
            <p:ph type="sldImg"/>
          </p:nvPr>
        </p:nvSpPr>
        <p:spPr>
          <a:prstGeom prst="rect">
            <a:avLst/>
          </a:prstGeom>
        </p:spPr>
        <p:txBody>
          <a:bodyPr/>
          <a:lstStyle/>
          <a:p>
            <a:pPr/>
          </a:p>
        </p:txBody>
      </p:sp>
      <p:sp>
        <p:nvSpPr>
          <p:cNvPr id="373" name="Shape 373"/>
          <p:cNvSpPr/>
          <p:nvPr>
            <p:ph type="body" sz="quarter" idx="1"/>
          </p:nvPr>
        </p:nvSpPr>
        <p:spPr>
          <a:prstGeom prst="rect">
            <a:avLst/>
          </a:prstGeom>
        </p:spPr>
        <p:txBody>
          <a:bodyPr/>
          <a:lstStyle/>
          <a:p>
            <a:pPr/>
            <a:r>
              <a:t>To wrap up. BISON injects boundary priors at three points: the Scharr gate before the bottleneck, SBA attention at the bottleneck, and gated skips in the decoder, with an HV head and watershed for instances. It gives the best Dice, IoU and AJI on TNBC, MoNuSeg and CPM-15, and the paper reports AJI gains of up to 9.6 points over a connected-component baseline with fewer merges in dense clusters.</a:t>
            </a:r>
          </a:p>
          <a:p>
            <a:pPr/>
          </a:p>
          <a:p>
            <a:pPr/>
            <a:r>
              <a:t>There are limits. The HV supervision falls back on connected components when native instance annotations are missing, which can reduce centroid precision. The exact softmax attention only runs at the low-resolution bottleneck. And the boundary filters are fixed, so they may not suit every modality or stain.</a:t>
            </a:r>
          </a:p>
          <a:p>
            <a:pPr/>
          </a:p>
          <a:p>
            <a:pPr/>
            <a:r>
              <a:t>Next we want scalable approximations of boundary-aware attention for higher-resolution decoder stages, learnable boundary filters, and wider tumour types with lightweight variants for clinical use.</a:t>
            </a:r>
          </a:p>
          <a:p>
            <a:pPr/>
          </a:p>
          <a:p>
            <a:pPr/>
            <a:r>
              <a:t>The code, hyperparameters and ablation results are on GitHub. This work was supported by the Russian Science Foundation, project 26-19-00620. Thank you, I'm happy to take questions. (about 1 minute)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Shape 382"/>
          <p:cNvSpPr/>
          <p:nvPr>
            <p:ph type="sldImg"/>
          </p:nvPr>
        </p:nvSpPr>
        <p:spPr>
          <a:prstGeom prst="rect">
            <a:avLst/>
          </a:prstGeom>
        </p:spPr>
        <p:txBody>
          <a:bodyPr/>
          <a:lstStyle/>
          <a:p>
            <a:pPr/>
          </a:p>
        </p:txBody>
      </p:sp>
      <p:sp>
        <p:nvSpPr>
          <p:cNvPr id="383" name="Shape 383"/>
          <p:cNvSpPr/>
          <p:nvPr>
            <p:ph type="body" sz="quarter" idx="1"/>
          </p:nvPr>
        </p:nvSpPr>
        <p:spPr>
          <a:prstGeom prst="rect">
            <a:avLst/>
          </a:prstGeom>
        </p:spPr>
        <p:txBody>
          <a:bodyPr/>
          <a:lstStyle/>
          <a:p>
            <a:pPr/>
            <a:r>
              <a:t>Reference list from the paper. Not presented; available for questions.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Shape 389"/>
          <p:cNvSpPr/>
          <p:nvPr>
            <p:ph type="sldImg"/>
          </p:nvPr>
        </p:nvSpPr>
        <p:spPr>
          <a:prstGeom prst="rect">
            <a:avLst/>
          </a:prstGeom>
        </p:spPr>
        <p:txBody>
          <a:bodyPr/>
          <a:lstStyle/>
          <a:p>
            <a:pPr/>
          </a:p>
        </p:txBody>
      </p:sp>
      <p:sp>
        <p:nvSpPr>
          <p:cNvPr id="390" name="Shape 390"/>
          <p:cNvSpPr/>
          <p:nvPr>
            <p:ph type="body" sz="quarter" idx="1"/>
          </p:nvPr>
        </p:nvSpPr>
        <p:spPr>
          <a:prstGeom prst="rect">
            <a:avLst/>
          </a:prstGeom>
        </p:spPr>
        <p:txBody>
          <a:bodyPr/>
          <a:lstStyle/>
          <a:p>
            <a:pPr/>
            <a:r>
              <a:t>Reference list from the paper. Not presented; available for questions.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6" name="Shape 396"/>
          <p:cNvSpPr/>
          <p:nvPr>
            <p:ph type="sldImg"/>
          </p:nvPr>
        </p:nvSpPr>
        <p:spPr>
          <a:prstGeom prst="rect">
            <a:avLst/>
          </a:prstGeom>
        </p:spPr>
        <p:txBody>
          <a:bodyPr/>
          <a:lstStyle/>
          <a:p>
            <a:pPr/>
          </a:p>
        </p:txBody>
      </p:sp>
      <p:sp>
        <p:nvSpPr>
          <p:cNvPr id="397" name="Shape 397"/>
          <p:cNvSpPr/>
          <p:nvPr>
            <p:ph type="body" sz="quarter" idx="1"/>
          </p:nvPr>
        </p:nvSpPr>
        <p:spPr>
          <a:prstGeom prst="rect">
            <a:avLst/>
          </a:prstGeom>
        </p:spPr>
        <p:txBody>
          <a:bodyPr/>
          <a:lstStyle/>
          <a:p>
            <a:pPr/>
            <a:r>
              <a:t>Reference list from the paper. Not presented; available for questions.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Shape 403"/>
          <p:cNvSpPr/>
          <p:nvPr>
            <p:ph type="sldImg"/>
          </p:nvPr>
        </p:nvSpPr>
        <p:spPr>
          <a:prstGeom prst="rect">
            <a:avLst/>
          </a:prstGeom>
        </p:spPr>
        <p:txBody>
          <a:bodyPr/>
          <a:lstStyle/>
          <a:p>
            <a:pPr/>
          </a:p>
        </p:txBody>
      </p:sp>
      <p:sp>
        <p:nvSpPr>
          <p:cNvPr id="404" name="Shape 404"/>
          <p:cNvSpPr/>
          <p:nvPr>
            <p:ph type="body" sz="quarter" idx="1"/>
          </p:nvPr>
        </p:nvSpPr>
        <p:spPr>
          <a:prstGeom prst="rect">
            <a:avLst/>
          </a:prstGeom>
        </p:spPr>
        <p:txBody>
          <a:bodyPr/>
          <a:lstStyle/>
          <a:p>
            <a:pPr/>
            <a:r>
              <a:t>Reference list from the paper. Not presented; available for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SLIDE">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8" name="Image 0" descr="Image 0"/>
          <p:cNvPicPr>
            <a:picLocks noChangeAspect="1"/>
          </p:cNvPicPr>
          <p:nvPr/>
        </p:nvPicPr>
        <p:blipFill>
          <a:blip r:embed="rId3">
            <a:extLst/>
          </a:blip>
          <a:stretch>
            <a:fillRect/>
          </a:stretch>
        </p:blipFill>
        <p:spPr>
          <a:xfrm>
            <a:off x="329184" y="192023"/>
            <a:ext cx="2066545" cy="395022"/>
          </a:xfrm>
          <a:prstGeom prst="rect">
            <a:avLst/>
          </a:prstGeom>
          <a:ln w="12700">
            <a:miter lim="400000"/>
          </a:ln>
        </p:spPr>
      </p:pic>
      <p:pic>
        <p:nvPicPr>
          <p:cNvPr id="19" name="Image 1" descr="Image 1"/>
          <p:cNvPicPr>
            <a:picLocks noChangeAspect="1"/>
          </p:cNvPicPr>
          <p:nvPr/>
        </p:nvPicPr>
        <p:blipFill>
          <a:blip r:embed="rId4">
            <a:extLst/>
          </a:blip>
          <a:stretch>
            <a:fillRect/>
          </a:stretch>
        </p:blipFill>
        <p:spPr>
          <a:xfrm>
            <a:off x="338327" y="4114800"/>
            <a:ext cx="2057401" cy="656539"/>
          </a:xfrm>
          <a:prstGeom prst="rect">
            <a:avLst/>
          </a:prstGeom>
          <a:ln w="12700">
            <a:miter lim="400000"/>
          </a:ln>
        </p:spPr>
      </p:pic>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7" name="Image 0" descr="Image 0"/>
          <p:cNvPicPr>
            <a:picLocks noChangeAspect="1"/>
          </p:cNvPicPr>
          <p:nvPr/>
        </p:nvPicPr>
        <p:blipFill>
          <a:blip r:embed="rId3">
            <a:extLst/>
          </a:blip>
          <a:stretch>
            <a:fillRect/>
          </a:stretch>
        </p:blipFill>
        <p:spPr>
          <a:xfrm>
            <a:off x="365759" y="128015"/>
            <a:ext cx="1600201" cy="306326"/>
          </a:xfrm>
          <a:prstGeom prst="rect">
            <a:avLst/>
          </a:prstGeom>
          <a:ln w="12700">
            <a:miter lim="400000"/>
          </a:ln>
        </p:spPr>
      </p:pic>
      <p:pic>
        <p:nvPicPr>
          <p:cNvPr id="28" name="Image 1" descr="Image 1"/>
          <p:cNvPicPr>
            <a:picLocks noChangeAspect="1"/>
          </p:cNvPicPr>
          <p:nvPr/>
        </p:nvPicPr>
        <p:blipFill>
          <a:blip r:embed="rId4">
            <a:extLst/>
          </a:blip>
          <a:stretch>
            <a:fillRect/>
          </a:stretch>
        </p:blipFill>
        <p:spPr>
          <a:xfrm>
            <a:off x="365759" y="4498847"/>
            <a:ext cx="1463041" cy="467259"/>
          </a:xfrm>
          <a:prstGeom prst="rect">
            <a:avLst/>
          </a:prstGeom>
          <a:ln w="12700">
            <a:miter lim="400000"/>
          </a:ln>
        </p:spPr>
      </p:pic>
      <p:sp>
        <p:nvSpPr>
          <p:cNvPr id="29" name="Click to add title"/>
          <p:cNvSpPr txBox="1"/>
          <p:nvPr>
            <p:ph type="title" hasCustomPrompt="1"/>
          </p:nvPr>
        </p:nvSpPr>
        <p:spPr>
          <a:xfrm>
            <a:off x="411480" y="566927"/>
            <a:ext cx="8321041" cy="457201"/>
          </a:xfrm>
          <a:prstGeom prst="rect">
            <a:avLst/>
          </a:prstGeom>
        </p:spPr>
        <p:txBody>
          <a:bodyPr anchor="t">
            <a:normAutofit fontScale="100000" lnSpcReduction="0"/>
          </a:bodyPr>
          <a:lstStyle>
            <a:lvl1pPr algn="l">
              <a:defRPr b="1" sz="2400">
                <a:solidFill>
                  <a:srgbClr val="003373"/>
                </a:solidFill>
              </a:defRPr>
            </a:lvl1pPr>
          </a:lstStyle>
          <a:p>
            <a:pPr/>
            <a:r>
              <a:t>Click to add title</a:t>
            </a:r>
          </a:p>
        </p:txBody>
      </p:sp>
      <p:sp>
        <p:nvSpPr>
          <p:cNvPr id="30" name="Slide Number"/>
          <p:cNvSpPr txBox="1"/>
          <p:nvPr>
            <p:ph type="sldNum" sz="quarter" idx="2"/>
          </p:nvPr>
        </p:nvSpPr>
        <p:spPr>
          <a:xfrm>
            <a:off x="8486770" y="4754879"/>
            <a:ext cx="245751" cy="22570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767262"/>
            <a:ext cx="2133600" cy="279401"/>
          </a:xfrm>
          <a:prstGeom prst="rect">
            <a:avLst/>
          </a:prstGeom>
          <a:ln w="12700">
            <a:miter lim="400000"/>
          </a:ln>
        </p:spPr>
        <p:txBody>
          <a:bodyPr wrap="none" lIns="45719" rIns="45719">
            <a:spAutoFit/>
          </a:bodyPr>
          <a:lstStyle>
            <a:lvl1pPr algn="r">
              <a:defRPr sz="1100">
                <a:solidFill>
                  <a:srgbClr val="FFFFFF"/>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13D"/>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13D"/>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13D"/>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13D"/>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13D"/>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13D"/>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13D"/>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13D"/>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4213D"/>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13D"/>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13D"/>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13D"/>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13D"/>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13D"/>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13D"/>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13D"/>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13D"/>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4213D"/>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8.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Text 0"/>
          <p:cNvSpPr txBox="1"/>
          <p:nvPr/>
        </p:nvSpPr>
        <p:spPr>
          <a:xfrm>
            <a:off x="329183" y="693859"/>
            <a:ext cx="60350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chemeClr val="accent3"/>
                </a:solidFill>
              </a:defRPr>
            </a:pPr>
            <a:r>
              <a:t>The 7</a:t>
            </a:r>
            <a:r>
              <a:rPr baseline="30000"/>
              <a:t>th</a:t>
            </a:r>
            <a:r>
              <a:t> International Conference on Medical Imaging and Computer-Aided Diagnosis</a:t>
            </a:r>
          </a:p>
        </p:txBody>
      </p:sp>
      <p:sp>
        <p:nvSpPr>
          <p:cNvPr id="40" name="Text 1"/>
          <p:cNvSpPr txBox="1"/>
          <p:nvPr/>
        </p:nvSpPr>
        <p:spPr>
          <a:xfrm>
            <a:off x="338328" y="1371600"/>
            <a:ext cx="8503920" cy="11997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900"/>
              </a:spcBef>
              <a:defRPr b="1" sz="1600">
                <a:solidFill>
                  <a:schemeClr val="accent3"/>
                </a:solidFill>
              </a:defRPr>
            </a:pPr>
            <a:r>
              <a:t>Paper ID: 740</a:t>
            </a:r>
          </a:p>
          <a:p>
            <a:pPr>
              <a:spcBef>
                <a:spcPts val="900"/>
              </a:spcBef>
              <a:defRPr b="1" sz="1600">
                <a:solidFill>
                  <a:schemeClr val="accent3"/>
                </a:solidFill>
              </a:defRPr>
            </a:pPr>
            <a:r>
              <a:t>Title: BISON: Boundary-Injected Segmentation Of Nuclei via Exact Softmax Attention</a:t>
            </a:r>
          </a:p>
          <a:p>
            <a:pPr>
              <a:spcBef>
                <a:spcPts val="900"/>
              </a:spcBef>
              <a:defRPr b="1" sz="1600">
                <a:solidFill>
                  <a:schemeClr val="accent3"/>
                </a:solidFill>
              </a:defRPr>
            </a:pPr>
            <a:r>
              <a:t>Author’s Information: Mukut Chatterjee</a:t>
            </a:r>
            <a:r>
              <a:rPr baseline="30000"/>
              <a:t>1</a:t>
            </a:r>
            <a:r>
              <a:t>, Diptarko Bhattacharjee</a:t>
            </a:r>
            <a:r>
              <a:rPr baseline="30000"/>
              <a:t>1</a:t>
            </a:r>
            <a:r>
              <a:t>, Debatra Banerjee</a:t>
            </a:r>
            <a:r>
              <a:rPr baseline="30000"/>
              <a:t>1</a:t>
            </a:r>
            <a:r>
              <a:t>, Dmitrii Kaplun</a:t>
            </a:r>
            <a:r>
              <a:rPr baseline="30000"/>
              <a:t>2,3,*</a:t>
            </a:r>
            <a:r>
              <a:t>, Asya Lyanova</a:t>
            </a:r>
            <a:r>
              <a:rPr baseline="30000"/>
              <a:t>3</a:t>
            </a:r>
            <a:r>
              <a:t>, Ram Sarkar</a:t>
            </a:r>
            <a:r>
              <a:rPr baseline="30000"/>
              <a:t>1</a:t>
            </a:r>
          </a:p>
        </p:txBody>
      </p:sp>
      <p:sp>
        <p:nvSpPr>
          <p:cNvPr id="41" name="Text 2"/>
          <p:cNvSpPr txBox="1"/>
          <p:nvPr/>
        </p:nvSpPr>
        <p:spPr>
          <a:xfrm>
            <a:off x="338328" y="2761488"/>
            <a:ext cx="8503920" cy="588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baseline="30000" sz="1200">
                <a:solidFill>
                  <a:schemeClr val="accent3"/>
                </a:solidFill>
              </a:defRPr>
            </a:pPr>
            <a:r>
              <a:t>1</a:t>
            </a:r>
            <a:r>
              <a:rPr baseline="0"/>
              <a:t> Jadavpur University, Kolkata, India  |  </a:t>
            </a:r>
            <a:r>
              <a:t>2</a:t>
            </a:r>
            <a:r>
              <a:rPr baseline="0"/>
              <a:t> China University of Mining and Technology, China</a:t>
            </a:r>
          </a:p>
          <a:p>
            <a:pPr>
              <a:spcBef>
                <a:spcPts val="200"/>
              </a:spcBef>
              <a:defRPr baseline="30000" sz="1200">
                <a:solidFill>
                  <a:schemeClr val="accent3"/>
                </a:solidFill>
              </a:defRPr>
            </a:pPr>
            <a:r>
              <a:t>3</a:t>
            </a:r>
            <a:r>
              <a:rPr baseline="0"/>
              <a:t> Intelligent Devices Institute, St. Petersburg Electrotechnical University “LETI”, Russia</a:t>
            </a:r>
          </a:p>
          <a:p>
            <a:pPr>
              <a:spcBef>
                <a:spcPts val="200"/>
              </a:spcBef>
              <a:defRPr sz="1200">
                <a:solidFill>
                  <a:schemeClr val="accent3"/>
                </a:solidFill>
              </a:defRPr>
            </a:pPr>
            <a:r>
              <a:t>* Corresponding author: dikaplun@etu.ru</a:t>
            </a:r>
          </a:p>
        </p:txBody>
      </p:sp>
      <p:sp>
        <p:nvSpPr>
          <p:cNvPr id="42" name="Presented By: Mukut Chatterjee"/>
          <p:cNvSpPr txBox="1"/>
          <p:nvPr/>
        </p:nvSpPr>
        <p:spPr>
          <a:xfrm>
            <a:off x="2501761" y="3477311"/>
            <a:ext cx="2799617" cy="30059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spcBef>
                <a:spcPts val="900"/>
              </a:spcBef>
              <a:defRPr b="1" sz="1600">
                <a:solidFill>
                  <a:schemeClr val="accent3"/>
                </a:solidFill>
              </a:defRPr>
            </a:lvl1pPr>
          </a:lstStyle>
          <a:p>
            <a:pPr/>
            <a:r>
              <a:t>Presented By: Mukut Chatterjee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 name="Text 0"/>
          <p:cNvSpPr txBox="1"/>
          <p:nvPr>
            <p:ph type="title"/>
          </p:nvPr>
        </p:nvSpPr>
        <p:spPr>
          <a:xfrm>
            <a:off x="411479" y="566927"/>
            <a:ext cx="8321042" cy="457201"/>
          </a:xfrm>
          <a:prstGeom prst="rect">
            <a:avLst/>
          </a:prstGeom>
        </p:spPr>
        <p:txBody>
          <a:bodyPr lIns="0" tIns="0" rIns="0" bIns="0" anchor="ctr"/>
          <a:lstStyle/>
          <a:p>
            <a:pPr/>
            <a:r>
              <a:t>Why nuclei instance segmentation is hard</a:t>
            </a:r>
          </a:p>
        </p:txBody>
      </p:sp>
      <p:sp>
        <p:nvSpPr>
          <p:cNvPr id="47" name="badge"/>
          <p:cNvSpPr/>
          <p:nvPr/>
        </p:nvSpPr>
        <p:spPr>
          <a:xfrm>
            <a:off x="411480" y="1161288"/>
            <a:ext cx="329185" cy="329185"/>
          </a:xfrm>
          <a:prstGeom prst="ellipse">
            <a:avLst/>
          </a:prstGeom>
          <a:solidFill>
            <a:schemeClr val="accent1"/>
          </a:solidFill>
          <a:ln w="12700">
            <a:solidFill>
              <a:schemeClr val="accent1"/>
            </a:solidFill>
          </a:ln>
        </p:spPr>
        <p:txBody>
          <a:bodyPr lIns="45719" rIns="45719"/>
          <a:lstStyle/>
          <a:p>
            <a:pPr/>
          </a:p>
        </p:txBody>
      </p:sp>
      <p:sp>
        <p:nvSpPr>
          <p:cNvPr id="48" name="Text 2"/>
          <p:cNvSpPr txBox="1"/>
          <p:nvPr/>
        </p:nvSpPr>
        <p:spPr>
          <a:xfrm>
            <a:off x="411480" y="1247447"/>
            <a:ext cx="3291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1</a:t>
            </a:r>
          </a:p>
        </p:txBody>
      </p:sp>
      <p:sp>
        <p:nvSpPr>
          <p:cNvPr id="49" name="Text 3"/>
          <p:cNvSpPr txBox="1"/>
          <p:nvPr/>
        </p:nvSpPr>
        <p:spPr>
          <a:xfrm>
            <a:off x="896111" y="1143000"/>
            <a:ext cx="4160522" cy="6465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Why it matters. </a:t>
            </a:r>
            <a:r>
              <a:rPr b="0">
                <a:solidFill>
                  <a:srgbClr val="14213D"/>
                </a:solidFill>
              </a:rPr>
              <a:t>Nuclei segmentation in H&amp;E images underpins cancer grading, sub-typing and survival prognosis.</a:t>
            </a:r>
          </a:p>
        </p:txBody>
      </p:sp>
      <p:sp>
        <p:nvSpPr>
          <p:cNvPr id="50" name="badge"/>
          <p:cNvSpPr/>
          <p:nvPr/>
        </p:nvSpPr>
        <p:spPr>
          <a:xfrm>
            <a:off x="411480" y="2121407"/>
            <a:ext cx="329185" cy="329185"/>
          </a:xfrm>
          <a:prstGeom prst="ellipse">
            <a:avLst/>
          </a:prstGeom>
          <a:solidFill>
            <a:schemeClr val="accent1"/>
          </a:solidFill>
          <a:ln w="12700">
            <a:solidFill>
              <a:schemeClr val="accent1"/>
            </a:solidFill>
          </a:ln>
        </p:spPr>
        <p:txBody>
          <a:bodyPr lIns="45719" rIns="45719"/>
          <a:lstStyle/>
          <a:p>
            <a:pPr/>
          </a:p>
        </p:txBody>
      </p:sp>
      <p:sp>
        <p:nvSpPr>
          <p:cNvPr id="51" name="Text 5"/>
          <p:cNvSpPr txBox="1"/>
          <p:nvPr/>
        </p:nvSpPr>
        <p:spPr>
          <a:xfrm>
            <a:off x="411480" y="2207567"/>
            <a:ext cx="3291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2</a:t>
            </a:r>
          </a:p>
        </p:txBody>
      </p:sp>
      <p:sp>
        <p:nvSpPr>
          <p:cNvPr id="52" name="Text 6"/>
          <p:cNvSpPr txBox="1"/>
          <p:nvPr/>
        </p:nvSpPr>
        <p:spPr>
          <a:xfrm>
            <a:off x="896111" y="2103120"/>
            <a:ext cx="4160522"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Why it is hard. </a:t>
            </a:r>
            <a:r>
              <a:rPr b="0">
                <a:solidFill>
                  <a:srgbClr val="14213D"/>
                </a:solidFill>
              </a:rPr>
              <a:t>In TNBC, nuclei differ in size, shape and texture, crowd together, and often contrast poorly with stroma.</a:t>
            </a:r>
          </a:p>
        </p:txBody>
      </p:sp>
      <p:sp>
        <p:nvSpPr>
          <p:cNvPr id="53" name="badge"/>
          <p:cNvSpPr/>
          <p:nvPr/>
        </p:nvSpPr>
        <p:spPr>
          <a:xfrm>
            <a:off x="411480" y="3081527"/>
            <a:ext cx="329185" cy="329185"/>
          </a:xfrm>
          <a:prstGeom prst="ellipse">
            <a:avLst/>
          </a:prstGeom>
          <a:solidFill>
            <a:schemeClr val="accent1"/>
          </a:solidFill>
          <a:ln w="12700">
            <a:solidFill>
              <a:schemeClr val="accent1"/>
            </a:solidFill>
          </a:ln>
        </p:spPr>
        <p:txBody>
          <a:bodyPr lIns="45719" rIns="45719"/>
          <a:lstStyle/>
          <a:p>
            <a:pPr/>
          </a:p>
        </p:txBody>
      </p:sp>
      <p:sp>
        <p:nvSpPr>
          <p:cNvPr id="54" name="Text 8"/>
          <p:cNvSpPr txBox="1"/>
          <p:nvPr/>
        </p:nvSpPr>
        <p:spPr>
          <a:xfrm>
            <a:off x="411480" y="3167687"/>
            <a:ext cx="32918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3</a:t>
            </a:r>
          </a:p>
        </p:txBody>
      </p:sp>
      <p:sp>
        <p:nvSpPr>
          <p:cNvPr id="55" name="Text 9"/>
          <p:cNvSpPr txBox="1"/>
          <p:nvPr/>
        </p:nvSpPr>
        <p:spPr>
          <a:xfrm>
            <a:off x="896111" y="3063239"/>
            <a:ext cx="4160522" cy="646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Where models fall short. </a:t>
            </a:r>
            <a:r>
              <a:rPr b="0">
                <a:solidFill>
                  <a:srgbClr val="14213D"/>
                </a:solidFill>
              </a:rPr>
              <a:t>U-Net [1] merges touching nuclei. HoVer-Net [2] adds HV maps and watershed, yet downsampling still erodes edge detail.</a:t>
            </a:r>
          </a:p>
        </p:txBody>
      </p:sp>
      <p:sp>
        <p:nvSpPr>
          <p:cNvPr id="56" name="card"/>
          <p:cNvSpPr/>
          <p:nvPr/>
        </p:nvSpPr>
        <p:spPr>
          <a:xfrm>
            <a:off x="5349240" y="1143000"/>
            <a:ext cx="3383281" cy="2743200"/>
          </a:xfrm>
          <a:prstGeom prst="roundRect">
            <a:avLst>
              <a:gd name="adj" fmla="val 2667"/>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57" name="Text 11"/>
          <p:cNvSpPr txBox="1"/>
          <p:nvPr/>
        </p:nvSpPr>
        <p:spPr>
          <a:xfrm>
            <a:off x="5532120" y="1252727"/>
            <a:ext cx="30175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The merge problem</a:t>
            </a:r>
          </a:p>
        </p:txBody>
      </p:sp>
      <p:sp>
        <p:nvSpPr>
          <p:cNvPr id="58" name="panel"/>
          <p:cNvSpPr/>
          <p:nvPr/>
        </p:nvSpPr>
        <p:spPr>
          <a:xfrm>
            <a:off x="5532120" y="1691639"/>
            <a:ext cx="960121" cy="914401"/>
          </a:xfrm>
          <a:prstGeom prst="roundRect">
            <a:avLst>
              <a:gd name="adj" fmla="val 6000"/>
            </a:avLst>
          </a:prstGeom>
          <a:solidFill>
            <a:srgbClr val="EAF4FB"/>
          </a:solidFill>
          <a:ln w="12700">
            <a:solidFill>
              <a:srgbClr val="EAF4FB"/>
            </a:solidFill>
          </a:ln>
        </p:spPr>
        <p:txBody>
          <a:bodyPr lIns="45719" rIns="45719"/>
          <a:lstStyle/>
          <a:p>
            <a:pPr/>
          </a:p>
        </p:txBody>
      </p:sp>
      <p:sp>
        <p:nvSpPr>
          <p:cNvPr id="59" name="nucleus-a"/>
          <p:cNvSpPr/>
          <p:nvPr/>
        </p:nvSpPr>
        <p:spPr>
          <a:xfrm>
            <a:off x="5623559" y="1938527"/>
            <a:ext cx="502921" cy="420625"/>
          </a:xfrm>
          <a:prstGeom prst="ellipse">
            <a:avLst/>
          </a:prstGeom>
          <a:solidFill>
            <a:schemeClr val="accent4"/>
          </a:solidFill>
          <a:ln w="15875">
            <a:solidFill>
              <a:schemeClr val="accent3"/>
            </a:solidFill>
          </a:ln>
        </p:spPr>
        <p:txBody>
          <a:bodyPr lIns="45719" rIns="45719"/>
          <a:lstStyle/>
          <a:p>
            <a:pPr/>
          </a:p>
        </p:txBody>
      </p:sp>
      <p:sp>
        <p:nvSpPr>
          <p:cNvPr id="60" name="nucleus-b"/>
          <p:cNvSpPr/>
          <p:nvPr/>
        </p:nvSpPr>
        <p:spPr>
          <a:xfrm>
            <a:off x="5879591" y="1911095"/>
            <a:ext cx="502921" cy="457201"/>
          </a:xfrm>
          <a:prstGeom prst="ellipse">
            <a:avLst/>
          </a:prstGeom>
          <a:solidFill>
            <a:schemeClr val="accent4"/>
          </a:solidFill>
          <a:ln w="15875">
            <a:solidFill>
              <a:schemeClr val="accent3"/>
            </a:solidFill>
          </a:ln>
        </p:spPr>
        <p:txBody>
          <a:bodyPr lIns="45719" rIns="45719"/>
          <a:lstStyle/>
          <a:p>
            <a:pPr/>
          </a:p>
        </p:txBody>
      </p:sp>
      <p:sp>
        <p:nvSpPr>
          <p:cNvPr id="61" name="panel"/>
          <p:cNvSpPr/>
          <p:nvPr/>
        </p:nvSpPr>
        <p:spPr>
          <a:xfrm>
            <a:off x="6560819" y="1691639"/>
            <a:ext cx="960121" cy="914401"/>
          </a:xfrm>
          <a:prstGeom prst="roundRect">
            <a:avLst>
              <a:gd name="adj" fmla="val 6000"/>
            </a:avLst>
          </a:prstGeom>
          <a:solidFill>
            <a:srgbClr val="EAF4FB"/>
          </a:solidFill>
          <a:ln w="12700">
            <a:solidFill>
              <a:srgbClr val="EAF4FB"/>
            </a:solidFill>
          </a:ln>
        </p:spPr>
        <p:txBody>
          <a:bodyPr lIns="45719" rIns="45719"/>
          <a:lstStyle/>
          <a:p>
            <a:pPr/>
          </a:p>
        </p:txBody>
      </p:sp>
      <p:sp>
        <p:nvSpPr>
          <p:cNvPr id="62" name="merged-a"/>
          <p:cNvSpPr/>
          <p:nvPr/>
        </p:nvSpPr>
        <p:spPr>
          <a:xfrm>
            <a:off x="6652259" y="1938527"/>
            <a:ext cx="502921" cy="420625"/>
          </a:xfrm>
          <a:prstGeom prst="ellipse">
            <a:avLst/>
          </a:prstGeom>
          <a:solidFill>
            <a:schemeClr val="accent1"/>
          </a:solidFill>
          <a:ln w="12700">
            <a:solidFill>
              <a:schemeClr val="accent1"/>
            </a:solidFill>
          </a:ln>
        </p:spPr>
        <p:txBody>
          <a:bodyPr lIns="45719" rIns="45719"/>
          <a:lstStyle/>
          <a:p>
            <a:pPr/>
          </a:p>
        </p:txBody>
      </p:sp>
      <p:sp>
        <p:nvSpPr>
          <p:cNvPr id="63" name="merged-b"/>
          <p:cNvSpPr/>
          <p:nvPr/>
        </p:nvSpPr>
        <p:spPr>
          <a:xfrm>
            <a:off x="6908292" y="1911095"/>
            <a:ext cx="502921" cy="457201"/>
          </a:xfrm>
          <a:prstGeom prst="ellipse">
            <a:avLst/>
          </a:prstGeom>
          <a:solidFill>
            <a:schemeClr val="accent1"/>
          </a:solidFill>
          <a:ln w="12700">
            <a:solidFill>
              <a:schemeClr val="accent1"/>
            </a:solidFill>
          </a:ln>
        </p:spPr>
        <p:txBody>
          <a:bodyPr lIns="45719" rIns="45719"/>
          <a:lstStyle/>
          <a:p>
            <a:pPr/>
          </a:p>
        </p:txBody>
      </p:sp>
      <p:sp>
        <p:nvSpPr>
          <p:cNvPr id="64" name="panel"/>
          <p:cNvSpPr/>
          <p:nvPr/>
        </p:nvSpPr>
        <p:spPr>
          <a:xfrm>
            <a:off x="7589519" y="1691639"/>
            <a:ext cx="960121" cy="914401"/>
          </a:xfrm>
          <a:prstGeom prst="roundRect">
            <a:avLst>
              <a:gd name="adj" fmla="val 6000"/>
            </a:avLst>
          </a:prstGeom>
          <a:solidFill>
            <a:srgbClr val="EAF4FB"/>
          </a:solidFill>
          <a:ln w="12700">
            <a:solidFill>
              <a:srgbClr val="EAF4FB"/>
            </a:solidFill>
          </a:ln>
        </p:spPr>
        <p:txBody>
          <a:bodyPr lIns="45719" rIns="45719"/>
          <a:lstStyle/>
          <a:p>
            <a:pPr/>
          </a:p>
        </p:txBody>
      </p:sp>
      <p:sp>
        <p:nvSpPr>
          <p:cNvPr id="65" name="sep-a"/>
          <p:cNvSpPr/>
          <p:nvPr/>
        </p:nvSpPr>
        <p:spPr>
          <a:xfrm>
            <a:off x="7680959" y="1938527"/>
            <a:ext cx="502921" cy="420625"/>
          </a:xfrm>
          <a:prstGeom prst="ellipse">
            <a:avLst/>
          </a:prstGeom>
          <a:solidFill>
            <a:schemeClr val="accent1"/>
          </a:solidFill>
          <a:ln w="12700">
            <a:solidFill>
              <a:srgbClr val="EAF4FB"/>
            </a:solidFill>
          </a:ln>
        </p:spPr>
        <p:txBody>
          <a:bodyPr lIns="45719" rIns="45719"/>
          <a:lstStyle/>
          <a:p>
            <a:pPr/>
          </a:p>
        </p:txBody>
      </p:sp>
      <p:sp>
        <p:nvSpPr>
          <p:cNvPr id="66" name="sep-b"/>
          <p:cNvSpPr/>
          <p:nvPr/>
        </p:nvSpPr>
        <p:spPr>
          <a:xfrm>
            <a:off x="7936992" y="1911095"/>
            <a:ext cx="502921" cy="457201"/>
          </a:xfrm>
          <a:prstGeom prst="ellipse">
            <a:avLst/>
          </a:prstGeom>
          <a:solidFill>
            <a:schemeClr val="accent2"/>
          </a:solidFill>
          <a:ln w="25400">
            <a:solidFill>
              <a:srgbClr val="EAF4FB"/>
            </a:solidFill>
          </a:ln>
        </p:spPr>
        <p:txBody>
          <a:bodyPr lIns="45719" rIns="45719"/>
          <a:lstStyle/>
          <a:p>
            <a:pPr/>
          </a:p>
        </p:txBody>
      </p:sp>
      <p:sp>
        <p:nvSpPr>
          <p:cNvPr id="67" name="Text 21"/>
          <p:cNvSpPr txBox="1"/>
          <p:nvPr/>
        </p:nvSpPr>
        <p:spPr>
          <a:xfrm>
            <a:off x="5532120" y="2670048"/>
            <a:ext cx="9601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chemeClr val="accent6"/>
                </a:solidFill>
              </a:defRPr>
            </a:lvl1pPr>
          </a:lstStyle>
          <a:p>
            <a:pPr/>
            <a:r>
              <a:t>Touching nuclei</a:t>
            </a:r>
          </a:p>
        </p:txBody>
      </p:sp>
      <p:sp>
        <p:nvSpPr>
          <p:cNvPr id="68" name="Text 22"/>
          <p:cNvSpPr txBox="1"/>
          <p:nvPr/>
        </p:nvSpPr>
        <p:spPr>
          <a:xfrm>
            <a:off x="6560819" y="2670048"/>
            <a:ext cx="96012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chemeClr val="accent6"/>
                </a:solidFill>
              </a:defRPr>
            </a:lvl1pPr>
          </a:lstStyle>
          <a:p>
            <a:pPr/>
            <a:r>
              <a:t>Merged into one region</a:t>
            </a:r>
          </a:p>
        </p:txBody>
      </p:sp>
      <p:sp>
        <p:nvSpPr>
          <p:cNvPr id="69" name="Text 23"/>
          <p:cNvSpPr txBox="1"/>
          <p:nvPr/>
        </p:nvSpPr>
        <p:spPr>
          <a:xfrm>
            <a:off x="7589519" y="2670048"/>
            <a:ext cx="96012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chemeClr val="accent6"/>
                </a:solidFill>
              </a:defRPr>
            </a:lvl1pPr>
          </a:lstStyle>
          <a:p>
            <a:pPr/>
            <a:r>
              <a:t>Separated into two</a:t>
            </a:r>
          </a:p>
        </p:txBody>
      </p:sp>
      <p:sp>
        <p:nvSpPr>
          <p:cNvPr id="70" name="Text 24"/>
          <p:cNvSpPr txBox="1"/>
          <p:nvPr/>
        </p:nvSpPr>
        <p:spPr>
          <a:xfrm>
            <a:off x="5532120" y="3200400"/>
            <a:ext cx="301752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lvl1pPr>
          </a:lstStyle>
          <a:p>
            <a:pPr/>
            <a:r>
              <a:t>Whether two nuclei are counted as one or two comes down to boundary detail.</a:t>
            </a:r>
          </a:p>
        </p:txBody>
      </p:sp>
      <p:sp>
        <p:nvSpPr>
          <p:cNvPr id="71" name="Slide Number Placeholder 0"/>
          <p:cNvSpPr txBox="1"/>
          <p:nvPr>
            <p:ph type="sldNum" sz="quarter" idx="4294967295"/>
          </p:nvPr>
        </p:nvSpPr>
        <p:spPr>
          <a:xfrm>
            <a:off x="8557575" y="47548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 name="Text 0"/>
          <p:cNvSpPr txBox="1"/>
          <p:nvPr>
            <p:ph type="title"/>
          </p:nvPr>
        </p:nvSpPr>
        <p:spPr>
          <a:xfrm>
            <a:off x="411479" y="566927"/>
            <a:ext cx="8321042" cy="457201"/>
          </a:xfrm>
          <a:prstGeom prst="rect">
            <a:avLst/>
          </a:prstGeom>
        </p:spPr>
        <p:txBody>
          <a:bodyPr lIns="0" tIns="0" rIns="0" bIns="0" anchor="ctr"/>
          <a:lstStyle/>
          <a:p>
            <a:pPr/>
            <a:r>
              <a:t>Related work and the remaining gap</a:t>
            </a:r>
          </a:p>
        </p:txBody>
      </p:sp>
      <p:sp>
        <p:nvSpPr>
          <p:cNvPr id="76" name="card"/>
          <p:cNvSpPr/>
          <p:nvPr/>
        </p:nvSpPr>
        <p:spPr>
          <a:xfrm>
            <a:off x="411480" y="1115567"/>
            <a:ext cx="4023360" cy="621793"/>
          </a:xfrm>
          <a:prstGeom prst="roundRect">
            <a:avLst>
              <a:gd name="adj" fmla="val 11765"/>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77" name="Text 2"/>
          <p:cNvSpPr txBox="1"/>
          <p:nvPr/>
        </p:nvSpPr>
        <p:spPr>
          <a:xfrm>
            <a:off x="539495" y="1170432"/>
            <a:ext cx="3767330" cy="502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003373"/>
                </a:solidFill>
              </a:defRPr>
            </a:pPr>
            <a:r>
              <a:t>SAAMU-Net [3]</a:t>
            </a:r>
          </a:p>
          <a:p>
            <a:pPr>
              <a:defRPr sz="1100"/>
            </a:pPr>
            <a:r>
              <a:t>InceptionV4 backbone with selective attention aggregation and memory-augmented attention in the skips.</a:t>
            </a:r>
          </a:p>
        </p:txBody>
      </p:sp>
      <p:sp>
        <p:nvSpPr>
          <p:cNvPr id="78" name="card"/>
          <p:cNvSpPr/>
          <p:nvPr/>
        </p:nvSpPr>
        <p:spPr>
          <a:xfrm>
            <a:off x="4709159" y="1115567"/>
            <a:ext cx="4023361" cy="621793"/>
          </a:xfrm>
          <a:prstGeom prst="roundRect">
            <a:avLst>
              <a:gd name="adj" fmla="val 11765"/>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79" name="Text 4"/>
          <p:cNvSpPr txBox="1"/>
          <p:nvPr/>
        </p:nvSpPr>
        <p:spPr>
          <a:xfrm>
            <a:off x="4837176" y="1170432"/>
            <a:ext cx="3767329" cy="502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003373"/>
                </a:solidFill>
              </a:defRPr>
            </a:pPr>
            <a:r>
              <a:t>DyGLNet [4]</a:t>
            </a:r>
          </a:p>
          <a:p>
            <a:pPr>
              <a:defRPr sz="1100"/>
            </a:pPr>
            <a:r>
              <a:t>Global and local feature fusion with dynamic upsampling and phase alignment for boundary consistency.</a:t>
            </a:r>
          </a:p>
        </p:txBody>
      </p:sp>
      <p:sp>
        <p:nvSpPr>
          <p:cNvPr id="80" name="card"/>
          <p:cNvSpPr/>
          <p:nvPr/>
        </p:nvSpPr>
        <p:spPr>
          <a:xfrm>
            <a:off x="411480" y="1828800"/>
            <a:ext cx="4023360" cy="621792"/>
          </a:xfrm>
          <a:prstGeom prst="roundRect">
            <a:avLst>
              <a:gd name="adj" fmla="val 11765"/>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81" name="Text 6"/>
          <p:cNvSpPr txBox="1"/>
          <p:nvPr/>
        </p:nvSpPr>
        <p:spPr>
          <a:xfrm>
            <a:off x="539495" y="1883664"/>
            <a:ext cx="3767330" cy="502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003373"/>
                </a:solidFill>
              </a:defRPr>
            </a:pPr>
            <a:r>
              <a:t>VEGAN [5]</a:t>
            </a:r>
          </a:p>
          <a:p>
            <a:pPr>
              <a:defRPr sz="1100"/>
            </a:pPr>
            <a:r>
              <a:t>Pix2Pix GAN whose generator is an edge-aware Attention U-Net with CLIP-based skips and CBAM.</a:t>
            </a:r>
          </a:p>
        </p:txBody>
      </p:sp>
      <p:sp>
        <p:nvSpPr>
          <p:cNvPr id="82" name="card"/>
          <p:cNvSpPr/>
          <p:nvPr/>
        </p:nvSpPr>
        <p:spPr>
          <a:xfrm>
            <a:off x="4709159" y="1828800"/>
            <a:ext cx="4023361" cy="621792"/>
          </a:xfrm>
          <a:prstGeom prst="roundRect">
            <a:avLst>
              <a:gd name="adj" fmla="val 11765"/>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83" name="Text 8"/>
          <p:cNvSpPr txBox="1"/>
          <p:nvPr/>
        </p:nvSpPr>
        <p:spPr>
          <a:xfrm>
            <a:off x="4837176" y="1883664"/>
            <a:ext cx="3767329" cy="502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003373"/>
                </a:solidFill>
              </a:defRPr>
            </a:pPr>
            <a:r>
              <a:t>WDRE-NET [6]</a:t>
            </a:r>
          </a:p>
          <a:p>
            <a:pPr>
              <a:defRPr sz="1100"/>
            </a:pPr>
            <a:r>
              <a:t>Weak supervision: wavelet differential convolution and region expansion of point annotations.</a:t>
            </a:r>
          </a:p>
        </p:txBody>
      </p:sp>
      <p:sp>
        <p:nvSpPr>
          <p:cNvPr id="84" name="card"/>
          <p:cNvSpPr/>
          <p:nvPr/>
        </p:nvSpPr>
        <p:spPr>
          <a:xfrm>
            <a:off x="411480" y="2542032"/>
            <a:ext cx="4023360" cy="621793"/>
          </a:xfrm>
          <a:prstGeom prst="roundRect">
            <a:avLst>
              <a:gd name="adj" fmla="val 11765"/>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85" name="Text 10"/>
          <p:cNvSpPr txBox="1"/>
          <p:nvPr/>
        </p:nvSpPr>
        <p:spPr>
          <a:xfrm>
            <a:off x="539495" y="2596895"/>
            <a:ext cx="3767330" cy="5025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003373"/>
                </a:solidFill>
              </a:defRPr>
            </a:pPr>
            <a:r>
              <a:t>EViT-UNet [7]</a:t>
            </a:r>
          </a:p>
          <a:p>
            <a:pPr>
              <a:defRPr sz="1100"/>
            </a:pPr>
            <a:r>
              <a:t>Lightweight convolution plus self-attention layers in place of full ViT blocks.</a:t>
            </a:r>
          </a:p>
        </p:txBody>
      </p:sp>
      <p:sp>
        <p:nvSpPr>
          <p:cNvPr id="86" name="card"/>
          <p:cNvSpPr/>
          <p:nvPr/>
        </p:nvSpPr>
        <p:spPr>
          <a:xfrm>
            <a:off x="4709159" y="2542032"/>
            <a:ext cx="4023361" cy="621793"/>
          </a:xfrm>
          <a:prstGeom prst="roundRect">
            <a:avLst>
              <a:gd name="adj" fmla="val 11765"/>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87" name="Text 12"/>
          <p:cNvSpPr txBox="1"/>
          <p:nvPr/>
        </p:nvSpPr>
        <p:spPr>
          <a:xfrm>
            <a:off x="4837176" y="2596895"/>
            <a:ext cx="3767329" cy="5025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003373"/>
                </a:solidFill>
              </a:defRPr>
            </a:pPr>
            <a:r>
              <a:t>DeltaSegment [8]</a:t>
            </a:r>
          </a:p>
          <a:p>
            <a:pPr>
              <a:defRPr sz="1100"/>
            </a:pPr>
            <a:r>
              <a:t>Multifidelity change detection between color-quantized and full-resolution inputs.</a:t>
            </a:r>
          </a:p>
        </p:txBody>
      </p:sp>
      <p:sp>
        <p:nvSpPr>
          <p:cNvPr id="88" name="card"/>
          <p:cNvSpPr/>
          <p:nvPr/>
        </p:nvSpPr>
        <p:spPr>
          <a:xfrm>
            <a:off x="411480" y="3255264"/>
            <a:ext cx="4023360" cy="621793"/>
          </a:xfrm>
          <a:prstGeom prst="roundRect">
            <a:avLst>
              <a:gd name="adj" fmla="val 11765"/>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89" name="Text 14"/>
          <p:cNvSpPr txBox="1"/>
          <p:nvPr/>
        </p:nvSpPr>
        <p:spPr>
          <a:xfrm>
            <a:off x="539495" y="3310128"/>
            <a:ext cx="3767330" cy="502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003373"/>
                </a:solidFill>
              </a:defRPr>
            </a:pPr>
            <a:r>
              <a:t>AFINITI [9]</a:t>
            </a:r>
          </a:p>
          <a:p>
            <a:pPr>
              <a:defRPr sz="1100"/>
            </a:pPr>
            <a:r>
              <a:t>Separate heads for instance probability, shape radial and classification.</a:t>
            </a:r>
          </a:p>
        </p:txBody>
      </p:sp>
      <p:sp>
        <p:nvSpPr>
          <p:cNvPr id="90" name="gap-card"/>
          <p:cNvSpPr/>
          <p:nvPr/>
        </p:nvSpPr>
        <p:spPr>
          <a:xfrm>
            <a:off x="4709159" y="3255264"/>
            <a:ext cx="4023361" cy="621793"/>
          </a:xfrm>
          <a:prstGeom prst="roundRect">
            <a:avLst>
              <a:gd name="adj" fmla="val 11765"/>
            </a:avLst>
          </a:prstGeom>
          <a:solidFill>
            <a:srgbClr val="003373"/>
          </a:solidFill>
          <a:ln w="12700">
            <a:solidFill>
              <a:srgbClr val="003373"/>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91" name="Text 16"/>
          <p:cNvSpPr txBox="1"/>
          <p:nvPr/>
        </p:nvSpPr>
        <p:spPr>
          <a:xfrm>
            <a:off x="4837176" y="3310128"/>
            <a:ext cx="3767329" cy="337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chemeClr val="accent4"/>
                </a:solidFill>
              </a:defRPr>
            </a:pPr>
            <a:r>
              <a:t>The gap</a:t>
            </a:r>
          </a:p>
          <a:p>
            <a:pPr>
              <a:defRPr sz="1100">
                <a:solidFill>
                  <a:srgbClr val="FFFFFF"/>
                </a:solidFill>
              </a:defRPr>
            </a:pPr>
            <a:r>
              <a:t>Deep semantic abstraction versus fine boundary preservation.</a:t>
            </a:r>
          </a:p>
        </p:txBody>
      </p:sp>
      <p:sp>
        <p:nvSpPr>
          <p:cNvPr id="92" name="Slide Number Placeholder 0"/>
          <p:cNvSpPr txBox="1"/>
          <p:nvPr>
            <p:ph type="sldNum" sz="quarter" idx="4294967295"/>
          </p:nvPr>
        </p:nvSpPr>
        <p:spPr>
          <a:xfrm>
            <a:off x="8557575" y="47548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Text 0"/>
          <p:cNvSpPr txBox="1"/>
          <p:nvPr>
            <p:ph type="title"/>
          </p:nvPr>
        </p:nvSpPr>
        <p:spPr>
          <a:xfrm>
            <a:off x="411479" y="566927"/>
            <a:ext cx="8321042" cy="457201"/>
          </a:xfrm>
          <a:prstGeom prst="rect">
            <a:avLst/>
          </a:prstGeom>
        </p:spPr>
        <p:txBody>
          <a:bodyPr lIns="0" tIns="0" rIns="0" bIns="0" anchor="ctr"/>
          <a:lstStyle/>
          <a:p>
            <a:pPr/>
            <a:r>
              <a:t>Contributions</a:t>
            </a:r>
          </a:p>
        </p:txBody>
      </p:sp>
      <p:sp>
        <p:nvSpPr>
          <p:cNvPr id="97" name="card"/>
          <p:cNvSpPr/>
          <p:nvPr/>
        </p:nvSpPr>
        <p:spPr>
          <a:xfrm>
            <a:off x="411480" y="1115567"/>
            <a:ext cx="2651761" cy="1828801"/>
          </a:xfrm>
          <a:prstGeom prst="roundRect">
            <a:avLst>
              <a:gd name="adj" fmla="val 4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98" name="badge"/>
          <p:cNvSpPr/>
          <p:nvPr/>
        </p:nvSpPr>
        <p:spPr>
          <a:xfrm>
            <a:off x="576072" y="1261872"/>
            <a:ext cx="347473" cy="347473"/>
          </a:xfrm>
          <a:prstGeom prst="ellipse">
            <a:avLst/>
          </a:prstGeom>
          <a:solidFill>
            <a:schemeClr val="accent1"/>
          </a:solidFill>
          <a:ln w="12700">
            <a:solidFill>
              <a:schemeClr val="accent1"/>
            </a:solidFill>
          </a:ln>
        </p:spPr>
        <p:txBody>
          <a:bodyPr lIns="45719" rIns="45719"/>
          <a:lstStyle/>
          <a:p>
            <a:pPr/>
          </a:p>
        </p:txBody>
      </p:sp>
      <p:sp>
        <p:nvSpPr>
          <p:cNvPr id="99" name="Text 3"/>
          <p:cNvSpPr txBox="1"/>
          <p:nvPr/>
        </p:nvSpPr>
        <p:spPr>
          <a:xfrm>
            <a:off x="576072" y="1352227"/>
            <a:ext cx="347473"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1</a:t>
            </a:r>
          </a:p>
        </p:txBody>
      </p:sp>
      <p:sp>
        <p:nvSpPr>
          <p:cNvPr id="100" name="Text 4"/>
          <p:cNvSpPr txBox="1"/>
          <p:nvPr/>
        </p:nvSpPr>
        <p:spPr>
          <a:xfrm>
            <a:off x="1033272" y="1240344"/>
            <a:ext cx="1920240"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003373"/>
                </a:solidFill>
              </a:defRPr>
            </a:lvl1pPr>
          </a:lstStyle>
          <a:p>
            <a:pPr/>
            <a:r>
              <a:t>Spatial Boundary-Aware (SBA) attention</a:t>
            </a:r>
          </a:p>
        </p:txBody>
      </p:sp>
      <p:sp>
        <p:nvSpPr>
          <p:cNvPr id="101" name="Text 5"/>
          <p:cNvSpPr txBox="1"/>
          <p:nvPr/>
        </p:nvSpPr>
        <p:spPr>
          <a:xfrm>
            <a:off x="576071" y="1755648"/>
            <a:ext cx="2359154" cy="7763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lvl1pPr>
          </a:lstStyle>
          <a:p>
            <a:pPr/>
            <a:r>
              <a:t>Fuses visual feature similarity with a fixed, multi-scale boundary similarity, so long-range context follows structural edges.</a:t>
            </a:r>
          </a:p>
        </p:txBody>
      </p:sp>
      <p:sp>
        <p:nvSpPr>
          <p:cNvPr id="102" name="card"/>
          <p:cNvSpPr/>
          <p:nvPr/>
        </p:nvSpPr>
        <p:spPr>
          <a:xfrm>
            <a:off x="3246120" y="1115567"/>
            <a:ext cx="2651761" cy="1828801"/>
          </a:xfrm>
          <a:prstGeom prst="roundRect">
            <a:avLst>
              <a:gd name="adj" fmla="val 4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103" name="badge"/>
          <p:cNvSpPr/>
          <p:nvPr/>
        </p:nvSpPr>
        <p:spPr>
          <a:xfrm>
            <a:off x="3410711" y="1261872"/>
            <a:ext cx="347473" cy="347473"/>
          </a:xfrm>
          <a:prstGeom prst="ellipse">
            <a:avLst/>
          </a:prstGeom>
          <a:solidFill>
            <a:schemeClr val="accent1"/>
          </a:solidFill>
          <a:ln w="12700">
            <a:solidFill>
              <a:schemeClr val="accent1"/>
            </a:solidFill>
          </a:ln>
        </p:spPr>
        <p:txBody>
          <a:bodyPr lIns="45719" rIns="45719"/>
          <a:lstStyle/>
          <a:p>
            <a:pPr/>
          </a:p>
        </p:txBody>
      </p:sp>
      <p:sp>
        <p:nvSpPr>
          <p:cNvPr id="104" name="Text 8"/>
          <p:cNvSpPr txBox="1"/>
          <p:nvPr/>
        </p:nvSpPr>
        <p:spPr>
          <a:xfrm>
            <a:off x="3410711" y="1352227"/>
            <a:ext cx="347473"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2</a:t>
            </a:r>
          </a:p>
        </p:txBody>
      </p:sp>
      <p:sp>
        <p:nvSpPr>
          <p:cNvPr id="105" name="Text 9"/>
          <p:cNvSpPr txBox="1"/>
          <p:nvPr/>
        </p:nvSpPr>
        <p:spPr>
          <a:xfrm>
            <a:off x="3867911" y="1240344"/>
            <a:ext cx="192024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003373"/>
                </a:solidFill>
              </a:defRPr>
            </a:lvl1pPr>
          </a:lstStyle>
          <a:p>
            <a:pPr/>
            <a:r>
              <a:t>Scharr pre-bottleneck refinement gate</a:t>
            </a:r>
          </a:p>
        </p:txBody>
      </p:sp>
      <p:sp>
        <p:nvSpPr>
          <p:cNvPr id="106" name="Text 10"/>
          <p:cNvSpPr txBox="1"/>
          <p:nvPr/>
        </p:nvSpPr>
        <p:spPr>
          <a:xfrm>
            <a:off x="3410711" y="1755648"/>
            <a:ext cx="2359154" cy="7763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lvl1pPr>
          </a:lstStyle>
          <a:p>
            <a:pPr/>
            <a:r>
              <a:t>Nucleus boundaries are where intensity changes fastest. The gate amplifies that detail just before the bottleneck compresses it away.</a:t>
            </a:r>
          </a:p>
        </p:txBody>
      </p:sp>
      <p:sp>
        <p:nvSpPr>
          <p:cNvPr id="107" name="card"/>
          <p:cNvSpPr/>
          <p:nvPr/>
        </p:nvSpPr>
        <p:spPr>
          <a:xfrm>
            <a:off x="6080759" y="1115567"/>
            <a:ext cx="2651761" cy="1828801"/>
          </a:xfrm>
          <a:prstGeom prst="roundRect">
            <a:avLst>
              <a:gd name="adj" fmla="val 4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108" name="badge"/>
          <p:cNvSpPr/>
          <p:nvPr/>
        </p:nvSpPr>
        <p:spPr>
          <a:xfrm>
            <a:off x="6245352" y="1261872"/>
            <a:ext cx="347473" cy="347473"/>
          </a:xfrm>
          <a:prstGeom prst="ellipse">
            <a:avLst/>
          </a:prstGeom>
          <a:solidFill>
            <a:schemeClr val="accent1"/>
          </a:solidFill>
          <a:ln w="12700">
            <a:solidFill>
              <a:schemeClr val="accent1"/>
            </a:solidFill>
          </a:ln>
        </p:spPr>
        <p:txBody>
          <a:bodyPr lIns="45719" rIns="45719"/>
          <a:lstStyle/>
          <a:p>
            <a:pPr/>
          </a:p>
        </p:txBody>
      </p:sp>
      <p:sp>
        <p:nvSpPr>
          <p:cNvPr id="109" name="Text 13"/>
          <p:cNvSpPr txBox="1"/>
          <p:nvPr/>
        </p:nvSpPr>
        <p:spPr>
          <a:xfrm>
            <a:off x="6245352" y="1352227"/>
            <a:ext cx="347473"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FFFFFF"/>
                </a:solidFill>
              </a:defRPr>
            </a:lvl1pPr>
          </a:lstStyle>
          <a:p>
            <a:pPr/>
            <a:r>
              <a:t>3</a:t>
            </a:r>
          </a:p>
        </p:txBody>
      </p:sp>
      <p:sp>
        <p:nvSpPr>
          <p:cNvPr id="110" name="Text 14"/>
          <p:cNvSpPr txBox="1"/>
          <p:nvPr/>
        </p:nvSpPr>
        <p:spPr>
          <a:xfrm>
            <a:off x="6702552" y="1240344"/>
            <a:ext cx="192024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003373"/>
                </a:solidFill>
              </a:defRPr>
            </a:lvl1pPr>
          </a:lstStyle>
          <a:p>
            <a:pPr/>
            <a:r>
              <a:t>End-to-end multi-task objective</a:t>
            </a:r>
          </a:p>
        </p:txBody>
      </p:sp>
      <p:sp>
        <p:nvSpPr>
          <p:cNvPr id="111" name="Text 15"/>
          <p:cNvSpPr txBox="1"/>
          <p:nvPr/>
        </p:nvSpPr>
        <p:spPr>
          <a:xfrm>
            <a:off x="6245352" y="1755648"/>
            <a:ext cx="2359153" cy="9795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lvl1pPr>
          </a:lstStyle>
          <a:p>
            <a:pPr/>
            <a:r>
              <a:t>A Boundary Consistency Loss from fixed differential operators, plus a Mean Squared Gradient Error (MSGE) on offset fields for smooth instance separation.</a:t>
            </a:r>
          </a:p>
        </p:txBody>
      </p:sp>
      <p:sp>
        <p:nvSpPr>
          <p:cNvPr id="112" name="Slide Number Placeholder 0"/>
          <p:cNvSpPr txBox="1"/>
          <p:nvPr>
            <p:ph type="sldNum" sz="quarter" idx="4294967295"/>
          </p:nvPr>
        </p:nvSpPr>
        <p:spPr>
          <a:xfrm>
            <a:off x="8557575" y="47548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Text 0"/>
          <p:cNvSpPr txBox="1"/>
          <p:nvPr>
            <p:ph type="title"/>
          </p:nvPr>
        </p:nvSpPr>
        <p:spPr>
          <a:xfrm>
            <a:off x="411479" y="566927"/>
            <a:ext cx="8321042" cy="457201"/>
          </a:xfrm>
          <a:prstGeom prst="rect">
            <a:avLst/>
          </a:prstGeom>
        </p:spPr>
        <p:txBody>
          <a:bodyPr lIns="0" tIns="0" rIns="0" bIns="0" anchor="ctr"/>
          <a:lstStyle/>
          <a:p>
            <a:pPr/>
            <a:r>
              <a:t>BISON architecture</a:t>
            </a:r>
          </a:p>
        </p:txBody>
      </p:sp>
      <p:sp>
        <p:nvSpPr>
          <p:cNvPr id="117" name="card"/>
          <p:cNvSpPr/>
          <p:nvPr/>
        </p:nvSpPr>
        <p:spPr>
          <a:xfrm>
            <a:off x="365759" y="1069847"/>
            <a:ext cx="5166361" cy="2834641"/>
          </a:xfrm>
          <a:prstGeom prst="roundRect">
            <a:avLst>
              <a:gd name="adj" fmla="val 258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pic>
        <p:nvPicPr>
          <p:cNvPr id="118" name="figure-1-architecture" descr="figure-1-architecture"/>
          <p:cNvPicPr>
            <a:picLocks noChangeAspect="1"/>
          </p:cNvPicPr>
          <p:nvPr/>
        </p:nvPicPr>
        <p:blipFill>
          <a:blip r:embed="rId3">
            <a:extLst/>
          </a:blip>
          <a:stretch>
            <a:fillRect/>
          </a:stretch>
        </p:blipFill>
        <p:spPr>
          <a:xfrm>
            <a:off x="475487" y="1170432"/>
            <a:ext cx="4946905" cy="2804297"/>
          </a:xfrm>
          <a:prstGeom prst="rect">
            <a:avLst/>
          </a:prstGeom>
          <a:ln w="12700">
            <a:miter lim="400000"/>
          </a:ln>
        </p:spPr>
      </p:pic>
      <p:sp>
        <p:nvSpPr>
          <p:cNvPr id="119" name="badge"/>
          <p:cNvSpPr/>
          <p:nvPr/>
        </p:nvSpPr>
        <p:spPr>
          <a:xfrm>
            <a:off x="5760720" y="1170432"/>
            <a:ext cx="274321" cy="274321"/>
          </a:xfrm>
          <a:prstGeom prst="ellipse">
            <a:avLst/>
          </a:prstGeom>
          <a:solidFill>
            <a:schemeClr val="accent1"/>
          </a:solidFill>
          <a:ln w="12700">
            <a:solidFill>
              <a:schemeClr val="accent1"/>
            </a:solidFill>
          </a:ln>
        </p:spPr>
        <p:txBody>
          <a:bodyPr lIns="45719" rIns="45719"/>
          <a:lstStyle/>
          <a:p>
            <a:pPr/>
          </a:p>
        </p:txBody>
      </p:sp>
      <p:sp>
        <p:nvSpPr>
          <p:cNvPr id="120" name="Text 3"/>
          <p:cNvSpPr txBox="1"/>
          <p:nvPr/>
        </p:nvSpPr>
        <p:spPr>
          <a:xfrm>
            <a:off x="5760720" y="1239056"/>
            <a:ext cx="2743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1</a:t>
            </a:r>
          </a:p>
        </p:txBody>
      </p:sp>
      <p:sp>
        <p:nvSpPr>
          <p:cNvPr id="121" name="Text 4"/>
          <p:cNvSpPr txBox="1"/>
          <p:nvPr/>
        </p:nvSpPr>
        <p:spPr>
          <a:xfrm>
            <a:off x="6144767" y="1143000"/>
            <a:ext cx="2587754" cy="5759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Encoder</a:t>
            </a:r>
          </a:p>
          <a:p>
            <a:pPr>
              <a:defRPr sz="1200"/>
            </a:pPr>
            <a:r>
              <a:t>ResNet [11] stages E1 to E4, 64 to 512 channels; pre-pool maps kept as skips.</a:t>
            </a:r>
          </a:p>
        </p:txBody>
      </p:sp>
      <p:sp>
        <p:nvSpPr>
          <p:cNvPr id="122" name="badge"/>
          <p:cNvSpPr/>
          <p:nvPr/>
        </p:nvSpPr>
        <p:spPr>
          <a:xfrm>
            <a:off x="5760720" y="1856232"/>
            <a:ext cx="274321" cy="274321"/>
          </a:xfrm>
          <a:prstGeom prst="ellipse">
            <a:avLst/>
          </a:prstGeom>
          <a:solidFill>
            <a:schemeClr val="accent1"/>
          </a:solidFill>
          <a:ln w="12700">
            <a:solidFill>
              <a:schemeClr val="accent1"/>
            </a:solidFill>
          </a:ln>
        </p:spPr>
        <p:txBody>
          <a:bodyPr lIns="45719" rIns="45719"/>
          <a:lstStyle/>
          <a:p>
            <a:pPr/>
          </a:p>
        </p:txBody>
      </p:sp>
      <p:sp>
        <p:nvSpPr>
          <p:cNvPr id="123" name="Text 6"/>
          <p:cNvSpPr txBox="1"/>
          <p:nvPr/>
        </p:nvSpPr>
        <p:spPr>
          <a:xfrm>
            <a:off x="5760720" y="1924856"/>
            <a:ext cx="2743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2</a:t>
            </a:r>
          </a:p>
        </p:txBody>
      </p:sp>
      <p:sp>
        <p:nvSpPr>
          <p:cNvPr id="124" name="Text 7"/>
          <p:cNvSpPr txBox="1"/>
          <p:nvPr/>
        </p:nvSpPr>
        <p:spPr>
          <a:xfrm>
            <a:off x="6144767" y="1828800"/>
            <a:ext cx="2587754" cy="5759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Bottleneck</a:t>
            </a:r>
          </a:p>
          <a:p>
            <a:pPr>
              <a:defRPr sz="1200"/>
            </a:pPr>
            <a:r>
              <a:t>Scharr gate, ASPP, SBA attention at 32 × 32.</a:t>
            </a:r>
          </a:p>
        </p:txBody>
      </p:sp>
      <p:sp>
        <p:nvSpPr>
          <p:cNvPr id="125" name="badge"/>
          <p:cNvSpPr/>
          <p:nvPr/>
        </p:nvSpPr>
        <p:spPr>
          <a:xfrm>
            <a:off x="5760720" y="2542032"/>
            <a:ext cx="274321" cy="274321"/>
          </a:xfrm>
          <a:prstGeom prst="ellipse">
            <a:avLst/>
          </a:prstGeom>
          <a:solidFill>
            <a:schemeClr val="accent1"/>
          </a:solidFill>
          <a:ln w="12700">
            <a:solidFill>
              <a:schemeClr val="accent1"/>
            </a:solidFill>
          </a:ln>
        </p:spPr>
        <p:txBody>
          <a:bodyPr lIns="45719" rIns="45719"/>
          <a:lstStyle/>
          <a:p>
            <a:pPr/>
          </a:p>
        </p:txBody>
      </p:sp>
      <p:sp>
        <p:nvSpPr>
          <p:cNvPr id="126" name="Text 9"/>
          <p:cNvSpPr txBox="1"/>
          <p:nvPr/>
        </p:nvSpPr>
        <p:spPr>
          <a:xfrm>
            <a:off x="5760720" y="2610656"/>
            <a:ext cx="2743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3</a:t>
            </a:r>
          </a:p>
        </p:txBody>
      </p:sp>
      <p:sp>
        <p:nvSpPr>
          <p:cNvPr id="127" name="Text 10"/>
          <p:cNvSpPr txBox="1"/>
          <p:nvPr/>
        </p:nvSpPr>
        <p:spPr>
          <a:xfrm>
            <a:off x="6144767" y="2514600"/>
            <a:ext cx="2587754"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Decoder</a:t>
            </a:r>
          </a:p>
          <a:p>
            <a:pPr>
              <a:defRPr sz="1200"/>
            </a:pPr>
            <a:r>
              <a:t>D4 to D1 with two-stage gated skips.</a:t>
            </a:r>
          </a:p>
        </p:txBody>
      </p:sp>
      <p:sp>
        <p:nvSpPr>
          <p:cNvPr id="128" name="badge"/>
          <p:cNvSpPr/>
          <p:nvPr/>
        </p:nvSpPr>
        <p:spPr>
          <a:xfrm>
            <a:off x="5760720" y="3227832"/>
            <a:ext cx="274321" cy="274321"/>
          </a:xfrm>
          <a:prstGeom prst="ellipse">
            <a:avLst/>
          </a:prstGeom>
          <a:solidFill>
            <a:schemeClr val="accent1"/>
          </a:solidFill>
          <a:ln w="12700">
            <a:solidFill>
              <a:schemeClr val="accent1"/>
            </a:solidFill>
          </a:ln>
        </p:spPr>
        <p:txBody>
          <a:bodyPr lIns="45719" rIns="45719"/>
          <a:lstStyle/>
          <a:p>
            <a:pPr/>
          </a:p>
        </p:txBody>
      </p:sp>
      <p:sp>
        <p:nvSpPr>
          <p:cNvPr id="129" name="Text 12"/>
          <p:cNvSpPr txBox="1"/>
          <p:nvPr/>
        </p:nvSpPr>
        <p:spPr>
          <a:xfrm>
            <a:off x="5760720" y="3296456"/>
            <a:ext cx="2743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4</a:t>
            </a:r>
          </a:p>
        </p:txBody>
      </p:sp>
      <p:sp>
        <p:nvSpPr>
          <p:cNvPr id="130" name="Text 13"/>
          <p:cNvSpPr txBox="1"/>
          <p:nvPr/>
        </p:nvSpPr>
        <p:spPr>
          <a:xfrm>
            <a:off x="6144767" y="3200400"/>
            <a:ext cx="2587754" cy="5759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Heads</a:t>
            </a:r>
          </a:p>
          <a:p>
            <a:pPr>
              <a:defRPr sz="1200"/>
            </a:pPr>
            <a:r>
              <a:t>Seg head gives the binary mask; HV head offsets drive watershed.</a:t>
            </a:r>
          </a:p>
        </p:txBody>
      </p:sp>
      <p:sp>
        <p:nvSpPr>
          <p:cNvPr id="131" name="Slide Number Placeholder 0"/>
          <p:cNvSpPr txBox="1"/>
          <p:nvPr>
            <p:ph type="sldNum" sz="quarter" idx="4294967295"/>
          </p:nvPr>
        </p:nvSpPr>
        <p:spPr>
          <a:xfrm>
            <a:off x="8557575" y="47548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ext 0"/>
          <p:cNvSpPr txBox="1"/>
          <p:nvPr>
            <p:ph type="title"/>
          </p:nvPr>
        </p:nvSpPr>
        <p:spPr>
          <a:xfrm>
            <a:off x="411479" y="566927"/>
            <a:ext cx="8321042" cy="457201"/>
          </a:xfrm>
          <a:prstGeom prst="rect">
            <a:avLst/>
          </a:prstGeom>
        </p:spPr>
        <p:txBody>
          <a:bodyPr lIns="0" tIns="0" rIns="0" bIns="0" anchor="ctr"/>
          <a:lstStyle/>
          <a:p>
            <a:pPr/>
            <a:r>
              <a:t>Scharr pre-bottleneck refinement</a:t>
            </a:r>
          </a:p>
        </p:txBody>
      </p:sp>
      <p:sp>
        <p:nvSpPr>
          <p:cNvPr id="136" name="chip"/>
          <p:cNvSpPr/>
          <p:nvPr/>
        </p:nvSpPr>
        <p:spPr>
          <a:xfrm>
            <a:off x="411480" y="1115567"/>
            <a:ext cx="1463040" cy="640081"/>
          </a:xfrm>
          <a:prstGeom prst="roundRect">
            <a:avLst>
              <a:gd name="adj" fmla="val 10000"/>
            </a:avLst>
          </a:prstGeom>
          <a:solidFill>
            <a:srgbClr val="EAF4FB"/>
          </a:solidFill>
          <a:ln w="12700">
            <a:solidFill>
              <a:srgbClr val="EAF4FB"/>
            </a:solidFill>
          </a:ln>
        </p:spPr>
        <p:txBody>
          <a:bodyPr lIns="45719" rIns="45719"/>
          <a:lstStyle/>
          <a:p>
            <a:pPr/>
          </a:p>
        </p:txBody>
      </p:sp>
      <p:sp>
        <p:nvSpPr>
          <p:cNvPr id="137" name="Text 2"/>
          <p:cNvSpPr txBox="1"/>
          <p:nvPr/>
        </p:nvSpPr>
        <p:spPr>
          <a:xfrm>
            <a:off x="484631" y="1261925"/>
            <a:ext cx="1316738"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200"/>
            </a:pPr>
            <a:r>
              <a:t>Pooled map Z</a:t>
            </a:r>
          </a:p>
          <a:p>
            <a:pPr algn="ctr">
              <a:defRPr sz="1200"/>
            </a:pPr>
            <a:r>
              <a:t>512 ch, 32 × 32</a:t>
            </a:r>
          </a:p>
        </p:txBody>
      </p:sp>
      <p:sp>
        <p:nvSpPr>
          <p:cNvPr id="138" name="arrow"/>
          <p:cNvSpPr/>
          <p:nvPr/>
        </p:nvSpPr>
        <p:spPr>
          <a:xfrm>
            <a:off x="1901951" y="1344167"/>
            <a:ext cx="182881" cy="182881"/>
          </a:xfrm>
          <a:prstGeom prst="rightArrow">
            <a:avLst>
              <a:gd name="adj1" fmla="val 50000"/>
              <a:gd name="adj2" fmla="val 50000"/>
            </a:avLst>
          </a:prstGeom>
          <a:solidFill>
            <a:schemeClr val="accent2"/>
          </a:solidFill>
          <a:ln w="12700">
            <a:solidFill>
              <a:schemeClr val="accent2"/>
            </a:solidFill>
          </a:ln>
        </p:spPr>
        <p:txBody>
          <a:bodyPr lIns="45719" rIns="45719"/>
          <a:lstStyle/>
          <a:p>
            <a:pPr/>
          </a:p>
        </p:txBody>
      </p:sp>
      <p:sp>
        <p:nvSpPr>
          <p:cNvPr id="139" name="chip"/>
          <p:cNvSpPr/>
          <p:nvPr/>
        </p:nvSpPr>
        <p:spPr>
          <a:xfrm>
            <a:off x="2125979" y="1115567"/>
            <a:ext cx="1463041" cy="640081"/>
          </a:xfrm>
          <a:prstGeom prst="roundRect">
            <a:avLst>
              <a:gd name="adj" fmla="val 10000"/>
            </a:avLst>
          </a:prstGeom>
          <a:solidFill>
            <a:srgbClr val="EAF4FB"/>
          </a:solidFill>
          <a:ln w="12700">
            <a:solidFill>
              <a:srgbClr val="EAF4FB"/>
            </a:solidFill>
          </a:ln>
        </p:spPr>
        <p:txBody>
          <a:bodyPr lIns="45719" rIns="45719"/>
          <a:lstStyle/>
          <a:p>
            <a:pPr/>
          </a:p>
        </p:txBody>
      </p:sp>
      <p:sp>
        <p:nvSpPr>
          <p:cNvPr id="140" name="Text 5"/>
          <p:cNvSpPr txBox="1"/>
          <p:nvPr/>
        </p:nvSpPr>
        <p:spPr>
          <a:xfrm>
            <a:off x="2199132" y="1261925"/>
            <a:ext cx="1316737"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lvl1pPr>
          </a:lstStyle>
          <a:p>
            <a:pPr/>
            <a:r>
              <a:t>1×1 conv to grayscale</a:t>
            </a:r>
          </a:p>
        </p:txBody>
      </p:sp>
      <p:sp>
        <p:nvSpPr>
          <p:cNvPr id="141" name="arrow"/>
          <p:cNvSpPr/>
          <p:nvPr/>
        </p:nvSpPr>
        <p:spPr>
          <a:xfrm>
            <a:off x="3616452" y="1344167"/>
            <a:ext cx="182881" cy="182881"/>
          </a:xfrm>
          <a:prstGeom prst="rightArrow">
            <a:avLst>
              <a:gd name="adj1" fmla="val 50000"/>
              <a:gd name="adj2" fmla="val 50000"/>
            </a:avLst>
          </a:prstGeom>
          <a:solidFill>
            <a:schemeClr val="accent2"/>
          </a:solidFill>
          <a:ln w="12700">
            <a:solidFill>
              <a:schemeClr val="accent2"/>
            </a:solidFill>
          </a:ln>
        </p:spPr>
        <p:txBody>
          <a:bodyPr lIns="45719" rIns="45719"/>
          <a:lstStyle/>
          <a:p>
            <a:pPr/>
          </a:p>
        </p:txBody>
      </p:sp>
      <p:sp>
        <p:nvSpPr>
          <p:cNvPr id="142" name="chip"/>
          <p:cNvSpPr/>
          <p:nvPr/>
        </p:nvSpPr>
        <p:spPr>
          <a:xfrm>
            <a:off x="3840479" y="1115567"/>
            <a:ext cx="1463041" cy="640081"/>
          </a:xfrm>
          <a:prstGeom prst="roundRect">
            <a:avLst>
              <a:gd name="adj" fmla="val 10000"/>
            </a:avLst>
          </a:prstGeom>
          <a:solidFill>
            <a:srgbClr val="EAF4FB"/>
          </a:solidFill>
          <a:ln w="12700">
            <a:solidFill>
              <a:srgbClr val="EAF4FB"/>
            </a:solidFill>
          </a:ln>
        </p:spPr>
        <p:txBody>
          <a:bodyPr lIns="45719" rIns="45719"/>
          <a:lstStyle/>
          <a:p>
            <a:pPr/>
          </a:p>
        </p:txBody>
      </p:sp>
      <p:sp>
        <p:nvSpPr>
          <p:cNvPr id="143" name="Text 8"/>
          <p:cNvSpPr txBox="1"/>
          <p:nvPr/>
        </p:nvSpPr>
        <p:spPr>
          <a:xfrm>
            <a:off x="3913632" y="1166675"/>
            <a:ext cx="1316737" cy="537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lvl1pPr>
          </a:lstStyle>
          <a:p>
            <a:pPr/>
            <a:r>
              <a:t>Fixed Scharr filters [12], two dilation scales</a:t>
            </a:r>
          </a:p>
        </p:txBody>
      </p:sp>
      <p:sp>
        <p:nvSpPr>
          <p:cNvPr id="144" name="arrow"/>
          <p:cNvSpPr/>
          <p:nvPr/>
        </p:nvSpPr>
        <p:spPr>
          <a:xfrm>
            <a:off x="5330952" y="1344167"/>
            <a:ext cx="182881" cy="182881"/>
          </a:xfrm>
          <a:prstGeom prst="rightArrow">
            <a:avLst>
              <a:gd name="adj1" fmla="val 50000"/>
              <a:gd name="adj2" fmla="val 50000"/>
            </a:avLst>
          </a:prstGeom>
          <a:solidFill>
            <a:schemeClr val="accent2"/>
          </a:solidFill>
          <a:ln w="12700">
            <a:solidFill>
              <a:schemeClr val="accent2"/>
            </a:solidFill>
          </a:ln>
        </p:spPr>
        <p:txBody>
          <a:bodyPr lIns="45719" rIns="45719"/>
          <a:lstStyle/>
          <a:p>
            <a:pPr/>
          </a:p>
        </p:txBody>
      </p:sp>
      <p:sp>
        <p:nvSpPr>
          <p:cNvPr id="145" name="chip"/>
          <p:cNvSpPr/>
          <p:nvPr/>
        </p:nvSpPr>
        <p:spPr>
          <a:xfrm>
            <a:off x="5554979" y="1115567"/>
            <a:ext cx="1463041" cy="640081"/>
          </a:xfrm>
          <a:prstGeom prst="roundRect">
            <a:avLst>
              <a:gd name="adj" fmla="val 10000"/>
            </a:avLst>
          </a:prstGeom>
          <a:solidFill>
            <a:srgbClr val="EAF4FB"/>
          </a:solidFill>
          <a:ln w="12700">
            <a:solidFill>
              <a:srgbClr val="EAF4FB"/>
            </a:solidFill>
          </a:ln>
        </p:spPr>
        <p:txBody>
          <a:bodyPr lIns="45719" rIns="45719"/>
          <a:lstStyle/>
          <a:p>
            <a:pPr/>
          </a:p>
        </p:txBody>
      </p:sp>
      <p:sp>
        <p:nvSpPr>
          <p:cNvPr id="146" name="Text 11"/>
          <p:cNvSpPr txBox="1"/>
          <p:nvPr/>
        </p:nvSpPr>
        <p:spPr>
          <a:xfrm>
            <a:off x="5628132" y="1261925"/>
            <a:ext cx="1316737"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lvl1pPr>
          </a:lstStyle>
          <a:p>
            <a:pPr/>
            <a:r>
              <a:t>Boundary-likeness map B</a:t>
            </a:r>
          </a:p>
        </p:txBody>
      </p:sp>
      <p:sp>
        <p:nvSpPr>
          <p:cNvPr id="147" name="arrow"/>
          <p:cNvSpPr/>
          <p:nvPr/>
        </p:nvSpPr>
        <p:spPr>
          <a:xfrm>
            <a:off x="7045452" y="1344167"/>
            <a:ext cx="182881" cy="182881"/>
          </a:xfrm>
          <a:prstGeom prst="rightArrow">
            <a:avLst>
              <a:gd name="adj1" fmla="val 50000"/>
              <a:gd name="adj2" fmla="val 50000"/>
            </a:avLst>
          </a:prstGeom>
          <a:solidFill>
            <a:schemeClr val="accent2"/>
          </a:solidFill>
          <a:ln w="12700">
            <a:solidFill>
              <a:schemeClr val="accent2"/>
            </a:solidFill>
          </a:ln>
        </p:spPr>
        <p:txBody>
          <a:bodyPr lIns="45719" rIns="45719"/>
          <a:lstStyle/>
          <a:p>
            <a:pPr/>
          </a:p>
        </p:txBody>
      </p:sp>
      <p:sp>
        <p:nvSpPr>
          <p:cNvPr id="148" name="chip"/>
          <p:cNvSpPr/>
          <p:nvPr/>
        </p:nvSpPr>
        <p:spPr>
          <a:xfrm>
            <a:off x="7269480" y="1115567"/>
            <a:ext cx="1463041" cy="640081"/>
          </a:xfrm>
          <a:prstGeom prst="roundRect">
            <a:avLst>
              <a:gd name="adj" fmla="val 10000"/>
            </a:avLst>
          </a:prstGeom>
          <a:solidFill>
            <a:schemeClr val="accent4"/>
          </a:solidFill>
          <a:ln w="12700">
            <a:solidFill>
              <a:schemeClr val="accent4"/>
            </a:solidFill>
          </a:ln>
        </p:spPr>
        <p:txBody>
          <a:bodyPr lIns="45719" rIns="45719"/>
          <a:lstStyle/>
          <a:p>
            <a:pPr/>
          </a:p>
        </p:txBody>
      </p:sp>
      <p:sp>
        <p:nvSpPr>
          <p:cNvPr id="149" name="Text 14"/>
          <p:cNvSpPr txBox="1"/>
          <p:nvPr/>
        </p:nvSpPr>
        <p:spPr>
          <a:xfrm>
            <a:off x="7342631" y="1357175"/>
            <a:ext cx="1316737"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lvl1pPr>
          </a:lstStyle>
          <a:p>
            <a:pPr/>
            <a:r>
              <a:t>Residual gate on Z</a:t>
            </a:r>
          </a:p>
        </p:txBody>
      </p:sp>
      <p:sp>
        <p:nvSpPr>
          <p:cNvPr id="150" name="card"/>
          <p:cNvSpPr/>
          <p:nvPr/>
        </p:nvSpPr>
        <p:spPr>
          <a:xfrm>
            <a:off x="411480" y="1938527"/>
            <a:ext cx="4983480" cy="1965962"/>
          </a:xfrm>
          <a:prstGeom prst="roundRect">
            <a:avLst>
              <a:gd name="adj" fmla="val 372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151" name="Text 16"/>
          <p:cNvSpPr txBox="1"/>
          <p:nvPr/>
        </p:nvSpPr>
        <p:spPr>
          <a:xfrm>
            <a:off x="594359" y="2029967"/>
            <a:ext cx="27432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Residual gating</a:t>
            </a:r>
          </a:p>
        </p:txBody>
      </p:sp>
      <p:pic>
        <p:nvPicPr>
          <p:cNvPr id="152" name="eq-zgate" descr="eq-zgate"/>
          <p:cNvPicPr>
            <a:picLocks noChangeAspect="1"/>
          </p:cNvPicPr>
          <p:nvPr/>
        </p:nvPicPr>
        <p:blipFill>
          <a:blip r:embed="rId3">
            <a:extLst/>
          </a:blip>
          <a:stretch>
            <a:fillRect/>
          </a:stretch>
        </p:blipFill>
        <p:spPr>
          <a:xfrm>
            <a:off x="594359" y="2450592"/>
            <a:ext cx="3150872" cy="377191"/>
          </a:xfrm>
          <a:prstGeom prst="rect">
            <a:avLst/>
          </a:prstGeom>
          <a:ln w="12700">
            <a:miter lim="400000"/>
          </a:ln>
        </p:spPr>
      </p:pic>
      <p:pic>
        <p:nvPicPr>
          <p:cNvPr id="153" name="eq-zdim" descr="eq-zdim"/>
          <p:cNvPicPr>
            <a:picLocks noChangeAspect="1"/>
          </p:cNvPicPr>
          <p:nvPr/>
        </p:nvPicPr>
        <p:blipFill>
          <a:blip r:embed="rId4">
            <a:extLst/>
          </a:blip>
          <a:stretch>
            <a:fillRect/>
          </a:stretch>
        </p:blipFill>
        <p:spPr>
          <a:xfrm>
            <a:off x="594359" y="2907792"/>
            <a:ext cx="1289915" cy="248718"/>
          </a:xfrm>
          <a:prstGeom prst="rect">
            <a:avLst/>
          </a:prstGeom>
          <a:ln w="12700">
            <a:miter lim="400000"/>
          </a:ln>
        </p:spPr>
      </p:pic>
      <p:sp>
        <p:nvSpPr>
          <p:cNvPr id="154" name="Text 17"/>
          <p:cNvSpPr txBox="1"/>
          <p:nvPr/>
        </p:nvSpPr>
        <p:spPr>
          <a:xfrm>
            <a:off x="594359" y="3310128"/>
            <a:ext cx="4617722"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lvl1pPr>
          </a:lstStyle>
          <a:p>
            <a:pPr/>
            <a:r>
              <a:t>γ is a learnable scalar, initialised to 0.1. Where γB ≈ 0 the features pass through unchanged; near edges they are amplified.</a:t>
            </a:r>
          </a:p>
        </p:txBody>
      </p:sp>
      <p:sp>
        <p:nvSpPr>
          <p:cNvPr id="155" name="card"/>
          <p:cNvSpPr/>
          <p:nvPr/>
        </p:nvSpPr>
        <p:spPr>
          <a:xfrm>
            <a:off x="5577840" y="1938527"/>
            <a:ext cx="3154681" cy="1965962"/>
          </a:xfrm>
          <a:prstGeom prst="roundRect">
            <a:avLst>
              <a:gd name="adj" fmla="val 372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156" name="Text 19"/>
          <p:cNvSpPr txBox="1"/>
          <p:nvPr/>
        </p:nvSpPr>
        <p:spPr>
          <a:xfrm>
            <a:off x="5760720" y="2029967"/>
            <a:ext cx="28346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ASPP on the gated map</a:t>
            </a:r>
          </a:p>
        </p:txBody>
      </p:sp>
      <p:sp>
        <p:nvSpPr>
          <p:cNvPr id="157" name="Text 20"/>
          <p:cNvSpPr txBox="1"/>
          <p:nvPr/>
        </p:nvSpPr>
        <p:spPr>
          <a:xfrm>
            <a:off x="5760720" y="2395727"/>
            <a:ext cx="2834641" cy="13351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400"/>
              </a:spcBef>
              <a:buSzPct val="100000"/>
              <a:buChar char="•"/>
              <a:defRPr sz="1300"/>
            </a:pPr>
            <a:r>
              <a:t>ASPP [13], atrous rates {3, 6, 12}</a:t>
            </a:r>
          </a:p>
          <a:p>
            <a:pPr marL="342900" indent="-342900">
              <a:spcBef>
                <a:spcPts val="400"/>
              </a:spcBef>
              <a:buSzPct val="100000"/>
              <a:buChar char="•"/>
              <a:defRPr sz="1300"/>
            </a:pPr>
            <a:r>
              <a:t>A global-pooling branch</a:t>
            </a:r>
          </a:p>
          <a:p>
            <a:pPr marL="342900" indent="-342900">
              <a:spcBef>
                <a:spcPts val="400"/>
              </a:spcBef>
              <a:buSzPct val="100000"/>
              <a:buChar char="•"/>
              <a:defRPr sz="1300"/>
            </a:pPr>
            <a:r>
              <a:t>Dropout 0.1</a:t>
            </a:r>
          </a:p>
          <a:p>
            <a:pPr marL="342900" indent="-342900">
              <a:spcBef>
                <a:spcPts val="400"/>
              </a:spcBef>
              <a:buSzPct val="100000"/>
              <a:buChar char="•"/>
              <a:defRPr sz="1300"/>
            </a:pPr>
            <a:r>
              <a:t>Each location is treated independently, which motivates SBA attention</a:t>
            </a:r>
          </a:p>
        </p:txBody>
      </p:sp>
      <p:sp>
        <p:nvSpPr>
          <p:cNvPr id="158" name="Slide Number Placeholder 0"/>
          <p:cNvSpPr txBox="1"/>
          <p:nvPr>
            <p:ph type="sldNum" sz="quarter" idx="4294967295"/>
          </p:nvPr>
        </p:nvSpPr>
        <p:spPr>
          <a:xfrm>
            <a:off x="8557575" y="47548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ext 0"/>
          <p:cNvSpPr txBox="1"/>
          <p:nvPr>
            <p:ph type="title"/>
          </p:nvPr>
        </p:nvSpPr>
        <p:spPr>
          <a:xfrm>
            <a:off x="411479" y="566927"/>
            <a:ext cx="8321042" cy="457201"/>
          </a:xfrm>
          <a:prstGeom prst="rect">
            <a:avLst/>
          </a:prstGeom>
        </p:spPr>
        <p:txBody>
          <a:bodyPr lIns="0" tIns="0" rIns="0" bIns="0" anchor="ctr"/>
          <a:lstStyle/>
          <a:p>
            <a:pPr/>
            <a:r>
              <a:t>Spatial Boundary-Aware (SBA) attention</a:t>
            </a:r>
          </a:p>
        </p:txBody>
      </p:sp>
      <p:sp>
        <p:nvSpPr>
          <p:cNvPr id="163" name="card"/>
          <p:cNvSpPr/>
          <p:nvPr/>
        </p:nvSpPr>
        <p:spPr>
          <a:xfrm>
            <a:off x="411480" y="1097280"/>
            <a:ext cx="4846321" cy="2807208"/>
          </a:xfrm>
          <a:prstGeom prst="roundRect">
            <a:avLst>
              <a:gd name="adj" fmla="val 2606"/>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164" name="Text 2"/>
          <p:cNvSpPr txBox="1"/>
          <p:nvPr/>
        </p:nvSpPr>
        <p:spPr>
          <a:xfrm>
            <a:off x="594360" y="1188719"/>
            <a:ext cx="4480560"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lvl1pPr>
          </a:lstStyle>
          <a:p>
            <a:pPr/>
            <a:r>
              <a:t>Visual similarity alone cannot separate pixels of similar texture on opposite sides of a boundary.</a:t>
            </a:r>
          </a:p>
        </p:txBody>
      </p:sp>
      <p:pic>
        <p:nvPicPr>
          <p:cNvPr id="165" name="eq-attn" descr="eq-attn"/>
          <p:cNvPicPr>
            <a:picLocks noChangeAspect="1"/>
          </p:cNvPicPr>
          <p:nvPr/>
        </p:nvPicPr>
        <p:blipFill>
          <a:blip r:embed="rId3">
            <a:extLst/>
          </a:blip>
          <a:stretch>
            <a:fillRect/>
          </a:stretch>
        </p:blipFill>
        <p:spPr>
          <a:xfrm>
            <a:off x="594359" y="1737360"/>
            <a:ext cx="3096769" cy="292609"/>
          </a:xfrm>
          <a:prstGeom prst="rect">
            <a:avLst/>
          </a:prstGeom>
          <a:ln w="12700">
            <a:miter lim="400000"/>
          </a:ln>
        </p:spPr>
      </p:pic>
      <p:pic>
        <p:nvPicPr>
          <p:cNvPr id="166" name="eq-sim" descr="eq-sim"/>
          <p:cNvPicPr>
            <a:picLocks noChangeAspect="1"/>
          </p:cNvPicPr>
          <p:nvPr/>
        </p:nvPicPr>
        <p:blipFill>
          <a:blip r:embed="rId4">
            <a:extLst/>
          </a:blip>
          <a:stretch>
            <a:fillRect/>
          </a:stretch>
        </p:blipFill>
        <p:spPr>
          <a:xfrm>
            <a:off x="594359" y="2157983"/>
            <a:ext cx="3341523" cy="628346"/>
          </a:xfrm>
          <a:prstGeom prst="rect">
            <a:avLst/>
          </a:prstGeom>
          <a:ln w="12700">
            <a:miter lim="400000"/>
          </a:ln>
        </p:spPr>
      </p:pic>
      <p:pic>
        <p:nvPicPr>
          <p:cNvPr id="167" name="eq-zattn" descr="eq-zattn"/>
          <p:cNvPicPr>
            <a:picLocks noChangeAspect="1"/>
          </p:cNvPicPr>
          <p:nvPr/>
        </p:nvPicPr>
        <p:blipFill>
          <a:blip r:embed="rId5">
            <a:extLst/>
          </a:blip>
          <a:stretch>
            <a:fillRect/>
          </a:stretch>
        </p:blipFill>
        <p:spPr>
          <a:xfrm>
            <a:off x="594359" y="2914344"/>
            <a:ext cx="3630169" cy="301753"/>
          </a:xfrm>
          <a:prstGeom prst="rect">
            <a:avLst/>
          </a:prstGeom>
          <a:ln w="12700">
            <a:miter lim="400000"/>
          </a:ln>
        </p:spPr>
      </p:pic>
      <p:sp>
        <p:nvSpPr>
          <p:cNvPr id="168" name="Text 3"/>
          <p:cNvSpPr txBox="1"/>
          <p:nvPr/>
        </p:nvSpPr>
        <p:spPr>
          <a:xfrm>
            <a:off x="594360" y="3325824"/>
            <a:ext cx="4480560"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chemeClr val="accent6"/>
                </a:solidFill>
              </a:defRPr>
            </a:lvl1pPr>
          </a:lstStyle>
          <a:p>
            <a:pPr/>
            <a:r>
              <a:t>h = 4 heads, d_k = C/h, N = H/16 · W/16 ≈ 1024 tokens. λ is a per-head scalar, squared to stay positive; λ → 0 recovers standard multi-head self-attention.</a:t>
            </a:r>
          </a:p>
        </p:txBody>
      </p:sp>
      <p:sp>
        <p:nvSpPr>
          <p:cNvPr id="169" name="card"/>
          <p:cNvSpPr/>
          <p:nvPr/>
        </p:nvSpPr>
        <p:spPr>
          <a:xfrm>
            <a:off x="5440679" y="1097280"/>
            <a:ext cx="3291842" cy="2807208"/>
          </a:xfrm>
          <a:prstGeom prst="roundRect">
            <a:avLst>
              <a:gd name="adj" fmla="val 2606"/>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170" name="Text 5"/>
          <p:cNvSpPr txBox="1"/>
          <p:nvPr/>
        </p:nvSpPr>
        <p:spPr>
          <a:xfrm>
            <a:off x="5605271" y="1170432"/>
            <a:ext cx="30175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Fixed Scharr boundary descriptor Ψ</a:t>
            </a:r>
          </a:p>
        </p:txBody>
      </p:sp>
      <p:sp>
        <p:nvSpPr>
          <p:cNvPr id="171" name="Text 6"/>
          <p:cNvSpPr txBox="1"/>
          <p:nvPr/>
        </p:nvSpPr>
        <p:spPr>
          <a:xfrm>
            <a:off x="5605271" y="1444752"/>
            <a:ext cx="3017521" cy="34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100">
                <a:solidFill>
                  <a:schemeClr val="accent6"/>
                </a:solidFill>
              </a:defRPr>
            </a:pPr>
            <a:r>
              <a:t>d</a:t>
            </a:r>
            <a:r>
              <a:rPr baseline="-40000"/>
              <a:t>ψ</a:t>
            </a:r>
            <a:r>
              <a:t> = 6 channels per token; no learnable parameters beyond one sharpness scalar β</a:t>
            </a:r>
          </a:p>
        </p:txBody>
      </p:sp>
      <p:sp>
        <p:nvSpPr>
          <p:cNvPr id="172" name="badge"/>
          <p:cNvSpPr/>
          <p:nvPr/>
        </p:nvSpPr>
        <p:spPr>
          <a:xfrm>
            <a:off x="5605271" y="1865376"/>
            <a:ext cx="237745" cy="237745"/>
          </a:xfrm>
          <a:prstGeom prst="ellipse">
            <a:avLst/>
          </a:prstGeom>
          <a:solidFill>
            <a:schemeClr val="accent2"/>
          </a:solidFill>
          <a:ln w="12700">
            <a:solidFill>
              <a:schemeClr val="accent2"/>
            </a:solidFill>
          </a:ln>
        </p:spPr>
        <p:txBody>
          <a:bodyPr lIns="45719" rIns="45719"/>
          <a:lstStyle/>
          <a:p>
            <a:pPr/>
          </a:p>
        </p:txBody>
      </p:sp>
      <p:sp>
        <p:nvSpPr>
          <p:cNvPr id="173" name="Text 8"/>
          <p:cNvSpPr txBox="1"/>
          <p:nvPr/>
        </p:nvSpPr>
        <p:spPr>
          <a:xfrm>
            <a:off x="5605271" y="1920747"/>
            <a:ext cx="23774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defRPr>
            </a:lvl1pPr>
          </a:lstStyle>
          <a:p>
            <a:pPr/>
            <a:r>
              <a:t>1</a:t>
            </a:r>
          </a:p>
        </p:txBody>
      </p:sp>
      <p:sp>
        <p:nvSpPr>
          <p:cNvPr id="174" name="Text 9"/>
          <p:cNvSpPr txBox="1"/>
          <p:nvPr/>
        </p:nvSpPr>
        <p:spPr>
          <a:xfrm>
            <a:off x="5943600" y="1828800"/>
            <a:ext cx="2651761" cy="3247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pPr>
            <a:r>
              <a:t>Boundary likeness</a:t>
            </a:r>
          </a:p>
          <a:p>
            <a:pPr>
              <a:defRPr sz="1100">
                <a:solidFill>
                  <a:schemeClr val="accent6"/>
                </a:solidFill>
              </a:defRPr>
            </a:pPr>
            <a:r>
              <a:t>sharpened gradient magnitude</a:t>
            </a:r>
          </a:p>
        </p:txBody>
      </p:sp>
      <p:sp>
        <p:nvSpPr>
          <p:cNvPr id="175" name="badge"/>
          <p:cNvSpPr/>
          <p:nvPr/>
        </p:nvSpPr>
        <p:spPr>
          <a:xfrm>
            <a:off x="5605271" y="2276855"/>
            <a:ext cx="237745" cy="237745"/>
          </a:xfrm>
          <a:prstGeom prst="ellipse">
            <a:avLst/>
          </a:prstGeom>
          <a:solidFill>
            <a:schemeClr val="accent2"/>
          </a:solidFill>
          <a:ln w="12700">
            <a:solidFill>
              <a:schemeClr val="accent2"/>
            </a:solidFill>
          </a:ln>
        </p:spPr>
        <p:txBody>
          <a:bodyPr lIns="45719" rIns="45719"/>
          <a:lstStyle/>
          <a:p>
            <a:pPr/>
          </a:p>
        </p:txBody>
      </p:sp>
      <p:sp>
        <p:nvSpPr>
          <p:cNvPr id="176" name="Text 11"/>
          <p:cNvSpPr txBox="1"/>
          <p:nvPr/>
        </p:nvSpPr>
        <p:spPr>
          <a:xfrm>
            <a:off x="5605271" y="2332227"/>
            <a:ext cx="23774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defRPr>
            </a:lvl1pPr>
          </a:lstStyle>
          <a:p>
            <a:pPr/>
            <a:r>
              <a:t>2</a:t>
            </a:r>
          </a:p>
        </p:txBody>
      </p:sp>
      <p:sp>
        <p:nvSpPr>
          <p:cNvPr id="177" name="Text 12"/>
          <p:cNvSpPr txBox="1"/>
          <p:nvPr/>
        </p:nvSpPr>
        <p:spPr>
          <a:xfrm>
            <a:off x="5943600" y="2299072"/>
            <a:ext cx="265176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lvl1pPr>
          </a:lstStyle>
          <a:p>
            <a:pPr/>
            <a:r>
              <a:t>Cross-scale orientation agreement</a:t>
            </a:r>
          </a:p>
        </p:txBody>
      </p:sp>
      <p:sp>
        <p:nvSpPr>
          <p:cNvPr id="178" name="badge"/>
          <p:cNvSpPr/>
          <p:nvPr/>
        </p:nvSpPr>
        <p:spPr>
          <a:xfrm>
            <a:off x="5605271" y="2633472"/>
            <a:ext cx="237745" cy="237745"/>
          </a:xfrm>
          <a:prstGeom prst="ellipse">
            <a:avLst/>
          </a:prstGeom>
          <a:solidFill>
            <a:schemeClr val="accent2"/>
          </a:solidFill>
          <a:ln w="12700">
            <a:solidFill>
              <a:schemeClr val="accent2"/>
            </a:solidFill>
          </a:ln>
        </p:spPr>
        <p:txBody>
          <a:bodyPr lIns="45719" rIns="45719"/>
          <a:lstStyle/>
          <a:p>
            <a:pPr/>
          </a:p>
        </p:txBody>
      </p:sp>
      <p:sp>
        <p:nvSpPr>
          <p:cNvPr id="179" name="Text 14"/>
          <p:cNvSpPr txBox="1"/>
          <p:nvPr/>
        </p:nvSpPr>
        <p:spPr>
          <a:xfrm>
            <a:off x="5605271" y="2688843"/>
            <a:ext cx="23774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defRPr>
            </a:lvl1pPr>
          </a:lstStyle>
          <a:p>
            <a:pPr/>
            <a:r>
              <a:t>3</a:t>
            </a:r>
          </a:p>
        </p:txBody>
      </p:sp>
      <p:sp>
        <p:nvSpPr>
          <p:cNvPr id="180" name="Text 15"/>
          <p:cNvSpPr txBox="1"/>
          <p:nvPr/>
        </p:nvSpPr>
        <p:spPr>
          <a:xfrm>
            <a:off x="5943600" y="2587805"/>
            <a:ext cx="137160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lvl1pPr>
          </a:lstStyle>
          <a:p>
            <a:pPr/>
            <a:r>
              <a:t>Oriented edge, two channels</a:t>
            </a:r>
          </a:p>
        </p:txBody>
      </p:sp>
      <p:pic>
        <p:nvPicPr>
          <p:cNvPr id="181" name="eq-edge" descr="eq-edge"/>
          <p:cNvPicPr>
            <a:picLocks noChangeAspect="1"/>
          </p:cNvPicPr>
          <p:nvPr/>
        </p:nvPicPr>
        <p:blipFill>
          <a:blip r:embed="rId6">
            <a:extLst/>
          </a:blip>
          <a:stretch>
            <a:fillRect/>
          </a:stretch>
        </p:blipFill>
        <p:spPr>
          <a:xfrm>
            <a:off x="7315200" y="2633472"/>
            <a:ext cx="1325881" cy="200765"/>
          </a:xfrm>
          <a:prstGeom prst="rect">
            <a:avLst/>
          </a:prstGeom>
          <a:ln w="12700">
            <a:miter lim="400000"/>
          </a:ln>
        </p:spPr>
      </p:pic>
      <p:sp>
        <p:nvSpPr>
          <p:cNvPr id="182" name="badge"/>
          <p:cNvSpPr/>
          <p:nvPr/>
        </p:nvSpPr>
        <p:spPr>
          <a:xfrm>
            <a:off x="5605271" y="2990088"/>
            <a:ext cx="237745" cy="237745"/>
          </a:xfrm>
          <a:prstGeom prst="ellipse">
            <a:avLst/>
          </a:prstGeom>
          <a:solidFill>
            <a:schemeClr val="accent2"/>
          </a:solidFill>
          <a:ln w="12700">
            <a:solidFill>
              <a:schemeClr val="accent2"/>
            </a:solidFill>
          </a:ln>
        </p:spPr>
        <p:txBody>
          <a:bodyPr lIns="45719" rIns="45719"/>
          <a:lstStyle/>
          <a:p>
            <a:pPr/>
          </a:p>
        </p:txBody>
      </p:sp>
      <p:sp>
        <p:nvSpPr>
          <p:cNvPr id="183" name="Text 17"/>
          <p:cNvSpPr txBox="1"/>
          <p:nvPr/>
        </p:nvSpPr>
        <p:spPr>
          <a:xfrm>
            <a:off x="5605271" y="3045459"/>
            <a:ext cx="23774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defRPr>
            </a:lvl1pPr>
          </a:lstStyle>
          <a:p>
            <a:pPr/>
            <a:r>
              <a:t>4</a:t>
            </a:r>
          </a:p>
        </p:txBody>
      </p:sp>
      <p:sp>
        <p:nvSpPr>
          <p:cNvPr id="184" name="Text 18"/>
          <p:cNvSpPr txBox="1"/>
          <p:nvPr/>
        </p:nvSpPr>
        <p:spPr>
          <a:xfrm>
            <a:off x="5943600" y="3030527"/>
            <a:ext cx="2651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lvl1pPr>
          </a:lstStyle>
          <a:p>
            <a:pPr/>
            <a:r>
              <a:t>Hessian polarity </a:t>
            </a:r>
          </a:p>
        </p:txBody>
      </p:sp>
      <p:sp>
        <p:nvSpPr>
          <p:cNvPr id="185" name="badge"/>
          <p:cNvSpPr/>
          <p:nvPr/>
        </p:nvSpPr>
        <p:spPr>
          <a:xfrm>
            <a:off x="5605271" y="3401567"/>
            <a:ext cx="237745" cy="237745"/>
          </a:xfrm>
          <a:prstGeom prst="ellipse">
            <a:avLst/>
          </a:prstGeom>
          <a:solidFill>
            <a:schemeClr val="accent2"/>
          </a:solidFill>
          <a:ln w="12700">
            <a:solidFill>
              <a:schemeClr val="accent2"/>
            </a:solidFill>
          </a:ln>
        </p:spPr>
        <p:txBody>
          <a:bodyPr lIns="45719" rIns="45719"/>
          <a:lstStyle/>
          <a:p>
            <a:pPr/>
          </a:p>
        </p:txBody>
      </p:sp>
      <p:sp>
        <p:nvSpPr>
          <p:cNvPr id="186" name="Text 20"/>
          <p:cNvSpPr txBox="1"/>
          <p:nvPr/>
        </p:nvSpPr>
        <p:spPr>
          <a:xfrm>
            <a:off x="5605271" y="3456939"/>
            <a:ext cx="23774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defRPr>
            </a:lvl1pPr>
          </a:lstStyle>
          <a:p>
            <a:pPr/>
            <a:r>
              <a:t>5</a:t>
            </a:r>
          </a:p>
        </p:txBody>
      </p:sp>
      <p:sp>
        <p:nvSpPr>
          <p:cNvPr id="187" name="Text 21"/>
          <p:cNvSpPr txBox="1"/>
          <p:nvPr/>
        </p:nvSpPr>
        <p:spPr>
          <a:xfrm>
            <a:off x="5984747" y="3442007"/>
            <a:ext cx="10972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lvl1pPr>
          </a:lstStyle>
          <a:p>
            <a:pPr/>
            <a:r>
              <a:t>Blobness</a:t>
            </a:r>
          </a:p>
        </p:txBody>
      </p:sp>
      <p:pic>
        <p:nvPicPr>
          <p:cNvPr id="188" name="eq-blob" descr="eq-blob"/>
          <p:cNvPicPr>
            <a:picLocks noChangeAspect="1"/>
          </p:cNvPicPr>
          <p:nvPr/>
        </p:nvPicPr>
        <p:blipFill>
          <a:blip r:embed="rId7">
            <a:extLst/>
          </a:blip>
          <a:stretch>
            <a:fillRect/>
          </a:stretch>
        </p:blipFill>
        <p:spPr>
          <a:xfrm>
            <a:off x="7223759" y="3364991"/>
            <a:ext cx="678320" cy="438913"/>
          </a:xfrm>
          <a:prstGeom prst="rect">
            <a:avLst/>
          </a:prstGeom>
          <a:ln w="12700">
            <a:miter lim="400000"/>
          </a:ln>
        </p:spPr>
      </p:pic>
      <p:sp>
        <p:nvSpPr>
          <p:cNvPr id="189" name="Slide Number Placeholder 0"/>
          <p:cNvSpPr txBox="1"/>
          <p:nvPr>
            <p:ph type="sldNum" sz="quarter" idx="4294967295"/>
          </p:nvPr>
        </p:nvSpPr>
        <p:spPr>
          <a:xfrm>
            <a:off x="8557575" y="47548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Text 0"/>
          <p:cNvSpPr txBox="1"/>
          <p:nvPr>
            <p:ph type="title"/>
          </p:nvPr>
        </p:nvSpPr>
        <p:spPr>
          <a:xfrm>
            <a:off x="411479" y="566927"/>
            <a:ext cx="8321042" cy="457201"/>
          </a:xfrm>
          <a:prstGeom prst="rect">
            <a:avLst/>
          </a:prstGeom>
        </p:spPr>
        <p:txBody>
          <a:bodyPr lIns="0" tIns="0" rIns="0" bIns="0" anchor="ctr"/>
          <a:lstStyle/>
          <a:p>
            <a:pPr/>
            <a:r>
              <a:t>Gated skip connections and prediction heads</a:t>
            </a:r>
          </a:p>
        </p:txBody>
      </p:sp>
      <p:sp>
        <p:nvSpPr>
          <p:cNvPr id="194" name="card"/>
          <p:cNvSpPr/>
          <p:nvPr/>
        </p:nvSpPr>
        <p:spPr>
          <a:xfrm>
            <a:off x="411480" y="1097280"/>
            <a:ext cx="5029201" cy="2807208"/>
          </a:xfrm>
          <a:prstGeom prst="roundRect">
            <a:avLst>
              <a:gd name="adj" fmla="val 2606"/>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195" name="Text 2"/>
          <p:cNvSpPr txBox="1"/>
          <p:nvPr/>
        </p:nvSpPr>
        <p:spPr>
          <a:xfrm>
            <a:off x="594360" y="1170432"/>
            <a:ext cx="448056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Each skip is filtered twice</a:t>
            </a:r>
          </a:p>
        </p:txBody>
      </p:sp>
      <p:sp>
        <p:nvSpPr>
          <p:cNvPr id="196" name="Text 3"/>
          <p:cNvSpPr txBox="1"/>
          <p:nvPr/>
        </p:nvSpPr>
        <p:spPr>
          <a:xfrm>
            <a:off x="594359" y="1463039"/>
            <a:ext cx="4663442" cy="728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lvl1pPr>
          </a:lstStyle>
          <a:p>
            <a:pPr/>
            <a:r>
              <a:t>A fixed Scharr detector boosts high-frequency content, then an Attention Gate [14] suppresses background using the upsampled decoder state. The result is concatenated, blended by a 1×1 conv and refined by residual blocks.</a:t>
            </a:r>
          </a:p>
        </p:txBody>
      </p:sp>
      <p:pic>
        <p:nvPicPr>
          <p:cNvPr id="197" name="eq-sbnd" descr="eq-sbnd"/>
          <p:cNvPicPr>
            <a:picLocks noChangeAspect="1"/>
          </p:cNvPicPr>
          <p:nvPr/>
        </p:nvPicPr>
        <p:blipFill>
          <a:blip r:embed="rId3">
            <a:extLst/>
          </a:blip>
          <a:stretch>
            <a:fillRect/>
          </a:stretch>
        </p:blipFill>
        <p:spPr>
          <a:xfrm>
            <a:off x="594359" y="2331720"/>
            <a:ext cx="3208326" cy="315621"/>
          </a:xfrm>
          <a:prstGeom prst="rect">
            <a:avLst/>
          </a:prstGeom>
          <a:ln w="12700">
            <a:miter lim="400000"/>
          </a:ln>
        </p:spPr>
      </p:pic>
      <p:pic>
        <p:nvPicPr>
          <p:cNvPr id="198" name="eq-alpha" descr="eq-alpha"/>
          <p:cNvPicPr>
            <a:picLocks noChangeAspect="1"/>
          </p:cNvPicPr>
          <p:nvPr/>
        </p:nvPicPr>
        <p:blipFill>
          <a:blip r:embed="rId4">
            <a:extLst/>
          </a:blip>
          <a:stretch>
            <a:fillRect/>
          </a:stretch>
        </p:blipFill>
        <p:spPr>
          <a:xfrm>
            <a:off x="594359" y="2784499"/>
            <a:ext cx="4187039" cy="469089"/>
          </a:xfrm>
          <a:prstGeom prst="rect">
            <a:avLst/>
          </a:prstGeom>
          <a:ln w="12700">
            <a:miter lim="400000"/>
          </a:ln>
        </p:spPr>
      </p:pic>
      <p:pic>
        <p:nvPicPr>
          <p:cNvPr id="199" name="eq-shat" descr="eq-shat"/>
          <p:cNvPicPr>
            <a:picLocks noChangeAspect="1"/>
          </p:cNvPicPr>
          <p:nvPr/>
        </p:nvPicPr>
        <p:blipFill>
          <a:blip r:embed="rId5">
            <a:extLst/>
          </a:blip>
          <a:stretch>
            <a:fillRect/>
          </a:stretch>
        </p:blipFill>
        <p:spPr>
          <a:xfrm>
            <a:off x="594359" y="3390748"/>
            <a:ext cx="1549148" cy="327204"/>
          </a:xfrm>
          <a:prstGeom prst="rect">
            <a:avLst/>
          </a:prstGeom>
          <a:ln w="12700">
            <a:miter lim="400000"/>
          </a:ln>
        </p:spPr>
      </p:pic>
      <p:sp>
        <p:nvSpPr>
          <p:cNvPr id="200" name="card"/>
          <p:cNvSpPr/>
          <p:nvPr/>
        </p:nvSpPr>
        <p:spPr>
          <a:xfrm>
            <a:off x="5623559" y="1097280"/>
            <a:ext cx="3108961" cy="868681"/>
          </a:xfrm>
          <a:prstGeom prst="roundRect">
            <a:avLst>
              <a:gd name="adj" fmla="val 842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01" name="Text 5"/>
          <p:cNvSpPr txBox="1"/>
          <p:nvPr/>
        </p:nvSpPr>
        <p:spPr>
          <a:xfrm>
            <a:off x="5760720" y="1170432"/>
            <a:ext cx="2852929" cy="5759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Seg head</a:t>
            </a:r>
          </a:p>
          <a:p>
            <a:pPr>
              <a:defRPr sz="1200"/>
            </a:pPr>
            <a:r>
              <a:t>1×1 conv to one logit Ŷ, sigmoid-thresholded at inference.</a:t>
            </a:r>
          </a:p>
        </p:txBody>
      </p:sp>
      <p:sp>
        <p:nvSpPr>
          <p:cNvPr id="202" name="card"/>
          <p:cNvSpPr/>
          <p:nvPr/>
        </p:nvSpPr>
        <p:spPr>
          <a:xfrm>
            <a:off x="5623559" y="2048255"/>
            <a:ext cx="3108961" cy="868682"/>
          </a:xfrm>
          <a:prstGeom prst="roundRect">
            <a:avLst>
              <a:gd name="adj" fmla="val 842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03" name="Text 7"/>
          <p:cNvSpPr txBox="1"/>
          <p:nvPr/>
        </p:nvSpPr>
        <p:spPr>
          <a:xfrm>
            <a:off x="5760720" y="2121407"/>
            <a:ext cx="2852929"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Auxiliary heads</a:t>
            </a:r>
          </a:p>
          <a:p>
            <a:pPr>
              <a:defRPr sz="1200"/>
            </a:pPr>
            <a:r>
              <a:t>On decoder stages 2 and 3, same segmentation loss, to stabilise gradient flow.</a:t>
            </a:r>
          </a:p>
        </p:txBody>
      </p:sp>
      <p:sp>
        <p:nvSpPr>
          <p:cNvPr id="204" name="card"/>
          <p:cNvSpPr/>
          <p:nvPr/>
        </p:nvSpPr>
        <p:spPr>
          <a:xfrm>
            <a:off x="5623559" y="2999232"/>
            <a:ext cx="3108961" cy="868681"/>
          </a:xfrm>
          <a:prstGeom prst="roundRect">
            <a:avLst>
              <a:gd name="adj" fmla="val 842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05" name="Text 9"/>
          <p:cNvSpPr txBox="1"/>
          <p:nvPr/>
        </p:nvSpPr>
        <p:spPr>
          <a:xfrm>
            <a:off x="5760720" y="3072383"/>
            <a:ext cx="2852929"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HV offset head</a:t>
            </a:r>
          </a:p>
          <a:p>
            <a:pPr>
              <a:defRPr sz="1200"/>
            </a:pPr>
            <a:r>
              <a:t>1×1 conv to 2 channels, tanh: Ô ∈ [−1, 1] offsets toward each instance centroid.</a:t>
            </a:r>
          </a:p>
        </p:txBody>
      </p:sp>
      <p:sp>
        <p:nvSpPr>
          <p:cNvPr id="206" name="Slide Number Placeholder 0"/>
          <p:cNvSpPr txBox="1"/>
          <p:nvPr>
            <p:ph type="sldNum" sz="quarter" idx="4294967295"/>
          </p:nvPr>
        </p:nvSpPr>
        <p:spPr>
          <a:xfrm>
            <a:off x="8557575" y="47548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Text 0"/>
          <p:cNvSpPr txBox="1"/>
          <p:nvPr>
            <p:ph type="title"/>
          </p:nvPr>
        </p:nvSpPr>
        <p:spPr>
          <a:xfrm>
            <a:off x="411479" y="566927"/>
            <a:ext cx="8321042" cy="457201"/>
          </a:xfrm>
          <a:prstGeom prst="rect">
            <a:avLst/>
          </a:prstGeom>
        </p:spPr>
        <p:txBody>
          <a:bodyPr lIns="0" tIns="0" rIns="0" bIns="0" anchor="ctr"/>
          <a:lstStyle/>
          <a:p>
            <a:pPr/>
            <a:r>
              <a:t>From offsets to instances: marker-controlled watershed</a:t>
            </a:r>
          </a:p>
        </p:txBody>
      </p:sp>
      <p:sp>
        <p:nvSpPr>
          <p:cNvPr id="211" name="card"/>
          <p:cNvSpPr/>
          <p:nvPr/>
        </p:nvSpPr>
        <p:spPr>
          <a:xfrm>
            <a:off x="411480" y="1097280"/>
            <a:ext cx="1965961" cy="1024129"/>
          </a:xfrm>
          <a:prstGeom prst="roundRect">
            <a:avLst>
              <a:gd name="adj" fmla="val 7143"/>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12" name="badge"/>
          <p:cNvSpPr/>
          <p:nvPr/>
        </p:nvSpPr>
        <p:spPr>
          <a:xfrm>
            <a:off x="521208" y="1188719"/>
            <a:ext cx="256033" cy="256033"/>
          </a:xfrm>
          <a:prstGeom prst="ellipse">
            <a:avLst/>
          </a:prstGeom>
          <a:solidFill>
            <a:schemeClr val="accent1"/>
          </a:solidFill>
          <a:ln w="12700">
            <a:solidFill>
              <a:schemeClr val="accent1"/>
            </a:solidFill>
          </a:ln>
        </p:spPr>
        <p:txBody>
          <a:bodyPr lIns="45719" rIns="45719"/>
          <a:lstStyle/>
          <a:p>
            <a:pPr/>
          </a:p>
        </p:txBody>
      </p:sp>
      <p:sp>
        <p:nvSpPr>
          <p:cNvPr id="213" name="Text 3"/>
          <p:cNvSpPr txBox="1"/>
          <p:nvPr/>
        </p:nvSpPr>
        <p:spPr>
          <a:xfrm>
            <a:off x="521208" y="124820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1</a:t>
            </a:r>
          </a:p>
        </p:txBody>
      </p:sp>
      <p:sp>
        <p:nvSpPr>
          <p:cNvPr id="214" name="Text 4"/>
          <p:cNvSpPr txBox="1"/>
          <p:nvPr/>
        </p:nvSpPr>
        <p:spPr>
          <a:xfrm>
            <a:off x="868680" y="1233355"/>
            <a:ext cx="141732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003373"/>
                </a:solidFill>
              </a:defRPr>
            </a:lvl1pPr>
          </a:lstStyle>
          <a:p>
            <a:pPr/>
            <a:r>
              <a:t>Threshold</a:t>
            </a:r>
          </a:p>
        </p:txBody>
      </p:sp>
      <p:sp>
        <p:nvSpPr>
          <p:cNvPr id="215" name="Text 5"/>
          <p:cNvSpPr txBox="1"/>
          <p:nvPr/>
        </p:nvSpPr>
        <p:spPr>
          <a:xfrm>
            <a:off x="539495" y="1508760"/>
            <a:ext cx="1737362"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lvl1pPr>
          </a:lstStyle>
          <a:p>
            <a:pPr/>
            <a:r>
              <a:t>τ* from a 19-value grid over [0.05, 0.95], maximising validation Dice.</a:t>
            </a:r>
          </a:p>
        </p:txBody>
      </p:sp>
      <p:sp>
        <p:nvSpPr>
          <p:cNvPr id="216" name="card"/>
          <p:cNvSpPr/>
          <p:nvPr/>
        </p:nvSpPr>
        <p:spPr>
          <a:xfrm>
            <a:off x="2532888" y="1097280"/>
            <a:ext cx="1965961" cy="1024129"/>
          </a:xfrm>
          <a:prstGeom prst="roundRect">
            <a:avLst>
              <a:gd name="adj" fmla="val 7143"/>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17" name="badge"/>
          <p:cNvSpPr/>
          <p:nvPr/>
        </p:nvSpPr>
        <p:spPr>
          <a:xfrm>
            <a:off x="2642616" y="1188719"/>
            <a:ext cx="256033" cy="256033"/>
          </a:xfrm>
          <a:prstGeom prst="ellipse">
            <a:avLst/>
          </a:prstGeom>
          <a:solidFill>
            <a:schemeClr val="accent1"/>
          </a:solidFill>
          <a:ln w="12700">
            <a:solidFill>
              <a:schemeClr val="accent1"/>
            </a:solidFill>
          </a:ln>
        </p:spPr>
        <p:txBody>
          <a:bodyPr lIns="45719" rIns="45719"/>
          <a:lstStyle/>
          <a:p>
            <a:pPr/>
          </a:p>
        </p:txBody>
      </p:sp>
      <p:sp>
        <p:nvSpPr>
          <p:cNvPr id="218" name="Text 8"/>
          <p:cNvSpPr txBox="1"/>
          <p:nvPr/>
        </p:nvSpPr>
        <p:spPr>
          <a:xfrm>
            <a:off x="2642616" y="124820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2</a:t>
            </a:r>
          </a:p>
        </p:txBody>
      </p:sp>
      <p:sp>
        <p:nvSpPr>
          <p:cNvPr id="219" name="Text 9"/>
          <p:cNvSpPr txBox="1"/>
          <p:nvPr/>
        </p:nvSpPr>
        <p:spPr>
          <a:xfrm>
            <a:off x="2990088" y="1233355"/>
            <a:ext cx="141732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003373"/>
                </a:solidFill>
              </a:defRPr>
            </a:lvl1pPr>
          </a:lstStyle>
          <a:p>
            <a:pPr/>
            <a:r>
              <a:t>Energy surface</a:t>
            </a:r>
          </a:p>
        </p:txBody>
      </p:sp>
      <p:sp>
        <p:nvSpPr>
          <p:cNvPr id="220" name="Text 10"/>
          <p:cNvSpPr txBox="1"/>
          <p:nvPr/>
        </p:nvSpPr>
        <p:spPr>
          <a:xfrm>
            <a:off x="2660904" y="1508760"/>
            <a:ext cx="1737361"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lvl1pPr>
          </a:lstStyle>
          <a:p>
            <a:pPr/>
            <a:r>
              <a:t>Sobel gradients of the HV offset maps give G.</a:t>
            </a:r>
          </a:p>
        </p:txBody>
      </p:sp>
      <p:sp>
        <p:nvSpPr>
          <p:cNvPr id="221" name="card"/>
          <p:cNvSpPr/>
          <p:nvPr/>
        </p:nvSpPr>
        <p:spPr>
          <a:xfrm>
            <a:off x="4654296" y="1097280"/>
            <a:ext cx="1965961" cy="1024129"/>
          </a:xfrm>
          <a:prstGeom prst="roundRect">
            <a:avLst>
              <a:gd name="adj" fmla="val 7143"/>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22" name="badge"/>
          <p:cNvSpPr/>
          <p:nvPr/>
        </p:nvSpPr>
        <p:spPr>
          <a:xfrm>
            <a:off x="4764023" y="1188719"/>
            <a:ext cx="256033" cy="256033"/>
          </a:xfrm>
          <a:prstGeom prst="ellipse">
            <a:avLst/>
          </a:prstGeom>
          <a:solidFill>
            <a:schemeClr val="accent1"/>
          </a:solidFill>
          <a:ln w="12700">
            <a:solidFill>
              <a:schemeClr val="accent1"/>
            </a:solidFill>
          </a:ln>
        </p:spPr>
        <p:txBody>
          <a:bodyPr lIns="45719" rIns="45719"/>
          <a:lstStyle/>
          <a:p>
            <a:pPr/>
          </a:p>
        </p:txBody>
      </p:sp>
      <p:sp>
        <p:nvSpPr>
          <p:cNvPr id="223" name="Text 13"/>
          <p:cNvSpPr txBox="1"/>
          <p:nvPr/>
        </p:nvSpPr>
        <p:spPr>
          <a:xfrm>
            <a:off x="4764023" y="124820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3</a:t>
            </a:r>
          </a:p>
        </p:txBody>
      </p:sp>
      <p:sp>
        <p:nvSpPr>
          <p:cNvPr id="224" name="Text 14"/>
          <p:cNvSpPr txBox="1"/>
          <p:nvPr/>
        </p:nvSpPr>
        <p:spPr>
          <a:xfrm>
            <a:off x="5111496" y="1233355"/>
            <a:ext cx="141732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003373"/>
                </a:solidFill>
              </a:defRPr>
            </a:lvl1pPr>
          </a:lstStyle>
          <a:p>
            <a:pPr/>
            <a:r>
              <a:t>Seeds</a:t>
            </a:r>
          </a:p>
        </p:txBody>
      </p:sp>
      <p:sp>
        <p:nvSpPr>
          <p:cNvPr id="225" name="Text 15"/>
          <p:cNvSpPr txBox="1"/>
          <p:nvPr/>
        </p:nvSpPr>
        <p:spPr>
          <a:xfrm>
            <a:off x="4782311" y="1508760"/>
            <a:ext cx="1737362"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lvl1pPr>
          </a:lstStyle>
          <a:p>
            <a:pPr/>
            <a:r>
              <a:t>Normalised G &lt; 0.4 inside M, eroded with a radius-2 disk.</a:t>
            </a:r>
          </a:p>
        </p:txBody>
      </p:sp>
      <p:sp>
        <p:nvSpPr>
          <p:cNvPr id="226" name="card"/>
          <p:cNvSpPr/>
          <p:nvPr/>
        </p:nvSpPr>
        <p:spPr>
          <a:xfrm>
            <a:off x="6775704" y="1097280"/>
            <a:ext cx="1965961" cy="1024129"/>
          </a:xfrm>
          <a:prstGeom prst="roundRect">
            <a:avLst>
              <a:gd name="adj" fmla="val 7143"/>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27" name="badge"/>
          <p:cNvSpPr/>
          <p:nvPr/>
        </p:nvSpPr>
        <p:spPr>
          <a:xfrm>
            <a:off x="6885431" y="1188719"/>
            <a:ext cx="256033" cy="256033"/>
          </a:xfrm>
          <a:prstGeom prst="ellipse">
            <a:avLst/>
          </a:prstGeom>
          <a:solidFill>
            <a:schemeClr val="accent1"/>
          </a:solidFill>
          <a:ln w="12700">
            <a:solidFill>
              <a:schemeClr val="accent1"/>
            </a:solidFill>
          </a:ln>
        </p:spPr>
        <p:txBody>
          <a:bodyPr lIns="45719" rIns="45719"/>
          <a:lstStyle/>
          <a:p>
            <a:pPr/>
          </a:p>
        </p:txBody>
      </p:sp>
      <p:sp>
        <p:nvSpPr>
          <p:cNvPr id="228" name="Text 18"/>
          <p:cNvSpPr txBox="1"/>
          <p:nvPr/>
        </p:nvSpPr>
        <p:spPr>
          <a:xfrm>
            <a:off x="6885431" y="1248200"/>
            <a:ext cx="25603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4</a:t>
            </a:r>
          </a:p>
        </p:txBody>
      </p:sp>
      <p:sp>
        <p:nvSpPr>
          <p:cNvPr id="229" name="Text 19"/>
          <p:cNvSpPr txBox="1"/>
          <p:nvPr/>
        </p:nvSpPr>
        <p:spPr>
          <a:xfrm>
            <a:off x="7232904" y="1233355"/>
            <a:ext cx="141732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003373"/>
                </a:solidFill>
              </a:defRPr>
            </a:lvl1pPr>
          </a:lstStyle>
          <a:p>
            <a:pPr/>
            <a:r>
              <a:t>Watershed [15]</a:t>
            </a:r>
          </a:p>
        </p:txBody>
      </p:sp>
      <p:sp>
        <p:nvSpPr>
          <p:cNvPr id="230" name="Text 20"/>
          <p:cNvSpPr txBox="1"/>
          <p:nvPr/>
        </p:nvSpPr>
        <p:spPr>
          <a:xfrm>
            <a:off x="6903719" y="1508760"/>
            <a:ext cx="1737361" cy="464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lvl1pPr>
          </a:lstStyle>
          <a:p>
            <a:pPr/>
            <a:r>
              <a:t>Flood G from the seeds within M; drop fragments under 10 pixels.</a:t>
            </a:r>
          </a:p>
        </p:txBody>
      </p:sp>
      <p:sp>
        <p:nvSpPr>
          <p:cNvPr id="231" name="card"/>
          <p:cNvSpPr/>
          <p:nvPr/>
        </p:nvSpPr>
        <p:spPr>
          <a:xfrm>
            <a:off x="411480" y="2286000"/>
            <a:ext cx="2834640" cy="1618489"/>
          </a:xfrm>
          <a:prstGeom prst="roundRect">
            <a:avLst>
              <a:gd name="adj" fmla="val 452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32" name="Text 22"/>
          <p:cNvSpPr txBox="1"/>
          <p:nvPr/>
        </p:nvSpPr>
        <p:spPr>
          <a:xfrm>
            <a:off x="566927" y="2359151"/>
            <a:ext cx="256032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003373"/>
                </a:solidFill>
              </a:defRPr>
            </a:lvl1pPr>
          </a:lstStyle>
          <a:p>
            <a:pPr/>
            <a:r>
              <a:t>HV offset target</a:t>
            </a:r>
          </a:p>
        </p:txBody>
      </p:sp>
      <p:pic>
        <p:nvPicPr>
          <p:cNvPr id="233" name="eq-ohv" descr="eq-ohv"/>
          <p:cNvPicPr>
            <a:picLocks noChangeAspect="1"/>
          </p:cNvPicPr>
          <p:nvPr/>
        </p:nvPicPr>
        <p:blipFill>
          <a:blip r:embed="rId3">
            <a:extLst/>
          </a:blip>
          <a:stretch>
            <a:fillRect/>
          </a:stretch>
        </p:blipFill>
        <p:spPr>
          <a:xfrm>
            <a:off x="566927" y="2615183"/>
            <a:ext cx="1765120" cy="868681"/>
          </a:xfrm>
          <a:prstGeom prst="rect">
            <a:avLst/>
          </a:prstGeom>
          <a:ln w="12700">
            <a:miter lim="400000"/>
          </a:ln>
        </p:spPr>
      </p:pic>
      <p:sp>
        <p:nvSpPr>
          <p:cNvPr id="234" name="Text 23"/>
          <p:cNvSpPr txBox="1"/>
          <p:nvPr/>
        </p:nvSpPr>
        <p:spPr>
          <a:xfrm>
            <a:off x="566927" y="3593591"/>
            <a:ext cx="256032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Per foreground pixel of instance k; ε = 10⁻⁸.</a:t>
            </a:r>
          </a:p>
        </p:txBody>
      </p:sp>
      <p:sp>
        <p:nvSpPr>
          <p:cNvPr id="235" name="card"/>
          <p:cNvSpPr/>
          <p:nvPr/>
        </p:nvSpPr>
        <p:spPr>
          <a:xfrm>
            <a:off x="3383279" y="2286000"/>
            <a:ext cx="3246121" cy="1618489"/>
          </a:xfrm>
          <a:prstGeom prst="roundRect">
            <a:avLst>
              <a:gd name="adj" fmla="val 452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36" name="Text 25"/>
          <p:cNvSpPr txBox="1"/>
          <p:nvPr/>
        </p:nvSpPr>
        <p:spPr>
          <a:xfrm>
            <a:off x="3538728" y="2359151"/>
            <a:ext cx="292608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003373"/>
                </a:solidFill>
              </a:defRPr>
            </a:lvl1pPr>
          </a:lstStyle>
          <a:p>
            <a:pPr/>
            <a:r>
              <a:t>Energy surface</a:t>
            </a:r>
          </a:p>
        </p:txBody>
      </p:sp>
      <p:pic>
        <p:nvPicPr>
          <p:cNvPr id="237" name="eq-Gstack" descr="eq-Gstack"/>
          <p:cNvPicPr>
            <a:picLocks noChangeAspect="1"/>
          </p:cNvPicPr>
          <p:nvPr/>
        </p:nvPicPr>
        <p:blipFill>
          <a:blip r:embed="rId4">
            <a:extLst/>
          </a:blip>
          <a:stretch>
            <a:fillRect/>
          </a:stretch>
        </p:blipFill>
        <p:spPr>
          <a:xfrm>
            <a:off x="3538728" y="2651760"/>
            <a:ext cx="2704187" cy="760782"/>
          </a:xfrm>
          <a:prstGeom prst="rect">
            <a:avLst/>
          </a:prstGeom>
          <a:ln w="12700">
            <a:miter lim="400000"/>
          </a:ln>
        </p:spPr>
      </p:pic>
      <p:sp>
        <p:nvSpPr>
          <p:cNvPr id="238" name="Text 26"/>
          <p:cNvSpPr txBox="1"/>
          <p:nvPr/>
        </p:nvSpPr>
        <p:spPr>
          <a:xfrm>
            <a:off x="3538728" y="3456432"/>
            <a:ext cx="2926081" cy="302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Low inside a nucleus; spikes where the offset field reverses at a boundary.</a:t>
            </a:r>
          </a:p>
        </p:txBody>
      </p:sp>
      <p:sp>
        <p:nvSpPr>
          <p:cNvPr id="239" name="card"/>
          <p:cNvSpPr/>
          <p:nvPr/>
        </p:nvSpPr>
        <p:spPr>
          <a:xfrm>
            <a:off x="6766559" y="2286000"/>
            <a:ext cx="1965961" cy="1618489"/>
          </a:xfrm>
          <a:prstGeom prst="roundRect">
            <a:avLst>
              <a:gd name="adj" fmla="val 452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40" name="Text 28"/>
          <p:cNvSpPr txBox="1"/>
          <p:nvPr/>
        </p:nvSpPr>
        <p:spPr>
          <a:xfrm>
            <a:off x="6903719" y="2359151"/>
            <a:ext cx="173736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003373"/>
                </a:solidFill>
              </a:defRPr>
            </a:lvl1pPr>
          </a:lstStyle>
          <a:p>
            <a:pPr/>
            <a:r>
              <a:t>Foreground mask</a:t>
            </a:r>
          </a:p>
        </p:txBody>
      </p:sp>
      <p:pic>
        <p:nvPicPr>
          <p:cNvPr id="241" name="eq-mask" descr="eq-mask"/>
          <p:cNvPicPr>
            <a:picLocks noChangeAspect="1"/>
          </p:cNvPicPr>
          <p:nvPr/>
        </p:nvPicPr>
        <p:blipFill>
          <a:blip r:embed="rId5">
            <a:extLst/>
          </a:blip>
          <a:stretch>
            <a:fillRect/>
          </a:stretch>
        </p:blipFill>
        <p:spPr>
          <a:xfrm>
            <a:off x="6903719" y="2743200"/>
            <a:ext cx="1737361" cy="179839"/>
          </a:xfrm>
          <a:prstGeom prst="rect">
            <a:avLst/>
          </a:prstGeom>
          <a:ln w="12700">
            <a:miter lim="400000"/>
          </a:ln>
        </p:spPr>
      </p:pic>
      <p:sp>
        <p:nvSpPr>
          <p:cNvPr id="242" name="Text 29"/>
          <p:cNvSpPr txBox="1"/>
          <p:nvPr/>
        </p:nvSpPr>
        <p:spPr>
          <a:xfrm>
            <a:off x="6903719" y="3337559"/>
            <a:ext cx="173736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τ* is the validation-Dice-optimal threshold.</a:t>
            </a:r>
          </a:p>
        </p:txBody>
      </p:sp>
      <p:sp>
        <p:nvSpPr>
          <p:cNvPr id="243" name="Slide Number Placeholder 0"/>
          <p:cNvSpPr txBox="1"/>
          <p:nvPr>
            <p:ph type="sldNum" sz="quarter" idx="4294967295"/>
          </p:nvPr>
        </p:nvSpPr>
        <p:spPr>
          <a:xfrm>
            <a:off x="8557575" y="4754879"/>
            <a:ext cx="174946"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Text 0"/>
          <p:cNvSpPr txBox="1"/>
          <p:nvPr>
            <p:ph type="title"/>
          </p:nvPr>
        </p:nvSpPr>
        <p:spPr>
          <a:xfrm>
            <a:off x="411479" y="566927"/>
            <a:ext cx="8321042" cy="457201"/>
          </a:xfrm>
          <a:prstGeom prst="rect">
            <a:avLst/>
          </a:prstGeom>
        </p:spPr>
        <p:txBody>
          <a:bodyPr lIns="0" tIns="0" rIns="0" bIns="0" anchor="ctr"/>
          <a:lstStyle/>
          <a:p>
            <a:pPr/>
            <a:r>
              <a:t>Multi-task training objective</a:t>
            </a:r>
          </a:p>
        </p:txBody>
      </p:sp>
      <p:sp>
        <p:nvSpPr>
          <p:cNvPr id="248" name="card"/>
          <p:cNvSpPr/>
          <p:nvPr/>
        </p:nvSpPr>
        <p:spPr>
          <a:xfrm>
            <a:off x="398780" y="1071880"/>
            <a:ext cx="8321041" cy="502920"/>
          </a:xfrm>
          <a:prstGeom prst="roundRect">
            <a:avLst>
              <a:gd name="adj" fmla="val 14545"/>
            </a:avLst>
          </a:prstGeom>
          <a:solidFill>
            <a:srgbClr val="EAF4FB"/>
          </a:solidFill>
          <a:ln w="12700">
            <a:solidFill>
              <a:srgbClr val="EAF4FB"/>
            </a:solidFill>
          </a:ln>
        </p:spPr>
        <p:txBody>
          <a:bodyPr lIns="45719" rIns="45719"/>
          <a:lstStyle/>
          <a:p>
            <a:pPr/>
          </a:p>
        </p:txBody>
      </p:sp>
      <p:sp>
        <p:nvSpPr>
          <p:cNvPr id="249" name="Text 2"/>
          <p:cNvSpPr txBox="1"/>
          <p:nvPr/>
        </p:nvSpPr>
        <p:spPr>
          <a:xfrm>
            <a:off x="594359" y="1265358"/>
            <a:ext cx="118872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003373"/>
                </a:solidFill>
              </a:defRPr>
            </a:lvl1pPr>
          </a:lstStyle>
          <a:p>
            <a:pPr/>
            <a:r>
              <a:t>Total loss</a:t>
            </a:r>
          </a:p>
        </p:txBody>
      </p:sp>
      <p:pic>
        <p:nvPicPr>
          <p:cNvPr id="250" name="eq-ltotal" descr="eq-ltotal"/>
          <p:cNvPicPr>
            <a:picLocks noChangeAspect="1"/>
          </p:cNvPicPr>
          <p:nvPr/>
        </p:nvPicPr>
        <p:blipFill>
          <a:blip r:embed="rId3">
            <a:extLst/>
          </a:blip>
          <a:stretch>
            <a:fillRect/>
          </a:stretch>
        </p:blipFill>
        <p:spPr>
          <a:xfrm>
            <a:off x="2011679" y="1197863"/>
            <a:ext cx="3631083" cy="277979"/>
          </a:xfrm>
          <a:prstGeom prst="rect">
            <a:avLst/>
          </a:prstGeom>
          <a:ln w="12700">
            <a:miter lim="400000"/>
          </a:ln>
        </p:spPr>
      </p:pic>
      <p:sp>
        <p:nvSpPr>
          <p:cNvPr id="251" name="card"/>
          <p:cNvSpPr/>
          <p:nvPr/>
        </p:nvSpPr>
        <p:spPr>
          <a:xfrm>
            <a:off x="411480" y="1719072"/>
            <a:ext cx="2651761" cy="2194561"/>
          </a:xfrm>
          <a:prstGeom prst="roundRect">
            <a:avLst>
              <a:gd name="adj" fmla="val 3333"/>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52" name="Text 4"/>
          <p:cNvSpPr txBox="1"/>
          <p:nvPr/>
        </p:nvSpPr>
        <p:spPr>
          <a:xfrm>
            <a:off x="566927" y="1792223"/>
            <a:ext cx="22860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003373"/>
                </a:solidFill>
              </a:defRPr>
            </a:lvl1pPr>
          </a:lstStyle>
          <a:p>
            <a:pPr/>
            <a:r>
              <a:t>Segmentation</a:t>
            </a:r>
          </a:p>
        </p:txBody>
      </p:sp>
      <p:pic>
        <p:nvPicPr>
          <p:cNvPr id="253" name="eq-lseg" descr="eq-lseg"/>
          <p:cNvPicPr>
            <a:picLocks noChangeAspect="1"/>
          </p:cNvPicPr>
          <p:nvPr/>
        </p:nvPicPr>
        <p:blipFill>
          <a:blip r:embed="rId4">
            <a:extLst/>
          </a:blip>
          <a:stretch>
            <a:fillRect/>
          </a:stretch>
        </p:blipFill>
        <p:spPr>
          <a:xfrm>
            <a:off x="566927" y="2139695"/>
            <a:ext cx="2359153" cy="230665"/>
          </a:xfrm>
          <a:prstGeom prst="rect">
            <a:avLst/>
          </a:prstGeom>
          <a:ln w="12700">
            <a:miter lim="400000"/>
          </a:ln>
        </p:spPr>
      </p:pic>
      <p:pic>
        <p:nvPicPr>
          <p:cNvPr id="254" name="eq-wpos" descr="eq-wpos"/>
          <p:cNvPicPr>
            <a:picLocks noChangeAspect="1"/>
          </p:cNvPicPr>
          <p:nvPr/>
        </p:nvPicPr>
        <p:blipFill>
          <a:blip r:embed="rId5">
            <a:extLst/>
          </a:blip>
          <a:stretch>
            <a:fillRect/>
          </a:stretch>
        </p:blipFill>
        <p:spPr>
          <a:xfrm>
            <a:off x="566927" y="2487167"/>
            <a:ext cx="1761690" cy="457201"/>
          </a:xfrm>
          <a:prstGeom prst="rect">
            <a:avLst/>
          </a:prstGeom>
          <a:ln w="12700">
            <a:miter lim="400000"/>
          </a:ln>
        </p:spPr>
      </p:pic>
      <p:sp>
        <p:nvSpPr>
          <p:cNvPr id="255" name="Text 5"/>
          <p:cNvSpPr txBox="1"/>
          <p:nvPr/>
        </p:nvSpPr>
        <p:spPr>
          <a:xfrm>
            <a:off x="566927" y="3090672"/>
            <a:ext cx="2359154" cy="629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lvl1pPr>
          </a:lstStyle>
          <a:p>
            <a:pPr/>
            <a:r>
              <a:t>Each term is a Focal Tversky loss [10] plus class-weighted BCE; the weight comes from the mean foreground fraction, capped by ζ.</a:t>
            </a:r>
          </a:p>
        </p:txBody>
      </p:sp>
      <p:sp>
        <p:nvSpPr>
          <p:cNvPr id="256" name="card"/>
          <p:cNvSpPr/>
          <p:nvPr/>
        </p:nvSpPr>
        <p:spPr>
          <a:xfrm>
            <a:off x="3246120" y="1719072"/>
            <a:ext cx="2651761" cy="2194561"/>
          </a:xfrm>
          <a:prstGeom prst="roundRect">
            <a:avLst>
              <a:gd name="adj" fmla="val 3333"/>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57" name="Text 7"/>
          <p:cNvSpPr txBox="1"/>
          <p:nvPr/>
        </p:nvSpPr>
        <p:spPr>
          <a:xfrm>
            <a:off x="3401567" y="1792223"/>
            <a:ext cx="22860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003373"/>
                </a:solidFill>
              </a:defRPr>
            </a:lvl1pPr>
          </a:lstStyle>
          <a:p>
            <a:pPr/>
            <a:r>
              <a:t>Instance geometry</a:t>
            </a:r>
          </a:p>
        </p:txBody>
      </p:sp>
      <p:pic>
        <p:nvPicPr>
          <p:cNvPr id="258" name="eq-lhv" descr="eq-lhv"/>
          <p:cNvPicPr>
            <a:picLocks noChangeAspect="1"/>
          </p:cNvPicPr>
          <p:nvPr/>
        </p:nvPicPr>
        <p:blipFill>
          <a:blip r:embed="rId6">
            <a:extLst/>
          </a:blip>
          <a:stretch>
            <a:fillRect/>
          </a:stretch>
        </p:blipFill>
        <p:spPr>
          <a:xfrm>
            <a:off x="3401567" y="2139695"/>
            <a:ext cx="1847089" cy="196597"/>
          </a:xfrm>
          <a:prstGeom prst="rect">
            <a:avLst/>
          </a:prstGeom>
          <a:ln w="12700">
            <a:miter lim="400000"/>
          </a:ln>
        </p:spPr>
      </p:pic>
      <p:pic>
        <p:nvPicPr>
          <p:cNvPr id="259" name="eq-mse" descr="eq-mse"/>
          <p:cNvPicPr>
            <a:picLocks noChangeAspect="1"/>
          </p:cNvPicPr>
          <p:nvPr/>
        </p:nvPicPr>
        <p:blipFill>
          <a:blip r:embed="rId7">
            <a:extLst/>
          </a:blip>
          <a:stretch>
            <a:fillRect/>
          </a:stretch>
        </p:blipFill>
        <p:spPr>
          <a:xfrm>
            <a:off x="3401567" y="2432304"/>
            <a:ext cx="2295940" cy="502921"/>
          </a:xfrm>
          <a:prstGeom prst="rect">
            <a:avLst/>
          </a:prstGeom>
          <a:ln w="12700">
            <a:miter lim="400000"/>
          </a:ln>
        </p:spPr>
      </p:pic>
      <p:pic>
        <p:nvPicPr>
          <p:cNvPr id="260" name="eq-msge" descr="eq-msge"/>
          <p:cNvPicPr>
            <a:picLocks noChangeAspect="1"/>
          </p:cNvPicPr>
          <p:nvPr/>
        </p:nvPicPr>
        <p:blipFill>
          <a:blip r:embed="rId8">
            <a:extLst/>
          </a:blip>
          <a:stretch>
            <a:fillRect/>
          </a:stretch>
        </p:blipFill>
        <p:spPr>
          <a:xfrm>
            <a:off x="3401567" y="2962655"/>
            <a:ext cx="2359153" cy="437939"/>
          </a:xfrm>
          <a:prstGeom prst="rect">
            <a:avLst/>
          </a:prstGeom>
          <a:ln w="12700">
            <a:miter lim="400000"/>
          </a:ln>
        </p:spPr>
      </p:pic>
      <p:sp>
        <p:nvSpPr>
          <p:cNvPr id="261" name="Text 8"/>
          <p:cNvSpPr txBox="1"/>
          <p:nvPr/>
        </p:nvSpPr>
        <p:spPr>
          <a:xfrm>
            <a:off x="3401567" y="3511296"/>
            <a:ext cx="2502664"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lvl1pPr>
          </a:lstStyle>
          <a:p>
            <a:pPr/>
            <a:r>
              <a:t>As in HoVer-Net [2]: offset MSE plus MSGE on their gradients, over foreground M.</a:t>
            </a:r>
          </a:p>
        </p:txBody>
      </p:sp>
      <p:sp>
        <p:nvSpPr>
          <p:cNvPr id="262" name="card"/>
          <p:cNvSpPr/>
          <p:nvPr/>
        </p:nvSpPr>
        <p:spPr>
          <a:xfrm>
            <a:off x="6080759" y="1719072"/>
            <a:ext cx="2651761" cy="2194561"/>
          </a:xfrm>
          <a:prstGeom prst="roundRect">
            <a:avLst>
              <a:gd name="adj" fmla="val 3333"/>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63" name="Text 10"/>
          <p:cNvSpPr txBox="1"/>
          <p:nvPr/>
        </p:nvSpPr>
        <p:spPr>
          <a:xfrm>
            <a:off x="6236208" y="1792223"/>
            <a:ext cx="22860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003373"/>
                </a:solidFill>
              </a:defRPr>
            </a:lvl1pPr>
          </a:lstStyle>
          <a:p>
            <a:pPr/>
            <a:r>
              <a:t>Boundary consistency</a:t>
            </a:r>
          </a:p>
        </p:txBody>
      </p:sp>
      <p:pic>
        <p:nvPicPr>
          <p:cNvPr id="264" name="eq-lbnd" descr="eq-lbnd"/>
          <p:cNvPicPr>
            <a:picLocks noChangeAspect="1"/>
          </p:cNvPicPr>
          <p:nvPr/>
        </p:nvPicPr>
        <p:blipFill>
          <a:blip r:embed="rId9">
            <a:extLst/>
          </a:blip>
          <a:stretch>
            <a:fillRect/>
          </a:stretch>
        </p:blipFill>
        <p:spPr>
          <a:xfrm>
            <a:off x="6236208" y="2139695"/>
            <a:ext cx="2353667" cy="693421"/>
          </a:xfrm>
          <a:prstGeom prst="rect">
            <a:avLst/>
          </a:prstGeom>
          <a:ln w="12700">
            <a:miter lim="400000"/>
          </a:ln>
        </p:spPr>
      </p:pic>
      <p:sp>
        <p:nvSpPr>
          <p:cNvPr id="265" name="Text 11"/>
          <p:cNvSpPr txBox="1"/>
          <p:nvPr/>
        </p:nvSpPr>
        <p:spPr>
          <a:xfrm>
            <a:off x="6236208" y="3044951"/>
            <a:ext cx="2359153" cy="6295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lvl1pPr>
          </a:lstStyle>
          <a:p>
            <a:pPr/>
            <a:r>
              <a:t>Compares Scharr edge responses of predicted and ground-truth masks, supervising sharpness independent of area overlap.</a:t>
            </a:r>
          </a:p>
        </p:txBody>
      </p:sp>
      <p:sp>
        <p:nvSpPr>
          <p:cNvPr id="266" name="Slide Number Placeholder 0"/>
          <p:cNvSpPr txBox="1"/>
          <p:nvPr>
            <p:ph type="sldNum" sz="quarter" idx="4294967295"/>
          </p:nvPr>
        </p:nvSpPr>
        <p:spPr>
          <a:xfrm>
            <a:off x="8486770" y="4754879"/>
            <a:ext cx="245751"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Text 0"/>
          <p:cNvSpPr txBox="1"/>
          <p:nvPr>
            <p:ph type="title"/>
          </p:nvPr>
        </p:nvSpPr>
        <p:spPr>
          <a:xfrm>
            <a:off x="411479" y="566927"/>
            <a:ext cx="8321042" cy="457201"/>
          </a:xfrm>
          <a:prstGeom prst="rect">
            <a:avLst/>
          </a:prstGeom>
        </p:spPr>
        <p:txBody>
          <a:bodyPr lIns="0" tIns="0" rIns="0" bIns="0" anchor="ctr"/>
          <a:lstStyle/>
          <a:p>
            <a:pPr/>
            <a:r>
              <a:t>Datasets, metrics and training setup</a:t>
            </a:r>
          </a:p>
        </p:txBody>
      </p:sp>
      <p:sp>
        <p:nvSpPr>
          <p:cNvPr id="271" name="card"/>
          <p:cNvSpPr/>
          <p:nvPr/>
        </p:nvSpPr>
        <p:spPr>
          <a:xfrm>
            <a:off x="411480" y="1097280"/>
            <a:ext cx="2743201" cy="1417320"/>
          </a:xfrm>
          <a:prstGeom prst="roundRect">
            <a:avLst>
              <a:gd name="adj" fmla="val 516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72" name="Text 2"/>
          <p:cNvSpPr txBox="1"/>
          <p:nvPr/>
        </p:nvSpPr>
        <p:spPr>
          <a:xfrm>
            <a:off x="566927" y="1170432"/>
            <a:ext cx="23774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Datasets</a:t>
            </a:r>
          </a:p>
        </p:txBody>
      </p:sp>
      <p:sp>
        <p:nvSpPr>
          <p:cNvPr id="273" name="Text 3"/>
          <p:cNvSpPr txBox="1"/>
          <p:nvPr/>
        </p:nvSpPr>
        <p:spPr>
          <a:xfrm>
            <a:off x="566927" y="1481327"/>
            <a:ext cx="2377441"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300"/>
              </a:spcBef>
              <a:buSzPct val="100000"/>
              <a:buChar char="•"/>
              <a:defRPr sz="1400"/>
            </a:pPr>
            <a:r>
              <a:t>TNBC [16]</a:t>
            </a:r>
          </a:p>
          <a:p>
            <a:pPr marL="342900" indent="-342900">
              <a:spcBef>
                <a:spcPts val="300"/>
              </a:spcBef>
              <a:buSzPct val="100000"/>
              <a:buChar char="•"/>
              <a:defRPr sz="1400"/>
            </a:pPr>
            <a:r>
              <a:t>MoNuSeg [17]</a:t>
            </a:r>
          </a:p>
          <a:p>
            <a:pPr marL="342900" indent="-342900">
              <a:spcBef>
                <a:spcPts val="300"/>
              </a:spcBef>
              <a:buSzPct val="100000"/>
              <a:buChar char="•"/>
              <a:defRPr sz="1400"/>
            </a:pPr>
            <a:r>
              <a:t>CPM-15 [18]</a:t>
            </a:r>
          </a:p>
        </p:txBody>
      </p:sp>
      <p:sp>
        <p:nvSpPr>
          <p:cNvPr id="274" name="card"/>
          <p:cNvSpPr/>
          <p:nvPr/>
        </p:nvSpPr>
        <p:spPr>
          <a:xfrm>
            <a:off x="411480" y="2670048"/>
            <a:ext cx="2743201" cy="1234441"/>
          </a:xfrm>
          <a:prstGeom prst="roundRect">
            <a:avLst>
              <a:gd name="adj" fmla="val 5926"/>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75" name="Text 5"/>
          <p:cNvSpPr txBox="1"/>
          <p:nvPr/>
        </p:nvSpPr>
        <p:spPr>
          <a:xfrm>
            <a:off x="566927" y="2743200"/>
            <a:ext cx="2377441"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Metrics</a:t>
            </a:r>
          </a:p>
        </p:txBody>
      </p:sp>
      <p:sp>
        <p:nvSpPr>
          <p:cNvPr id="276" name="Text 6"/>
          <p:cNvSpPr txBox="1"/>
          <p:nvPr/>
        </p:nvSpPr>
        <p:spPr>
          <a:xfrm>
            <a:off x="566927" y="3035807"/>
            <a:ext cx="2423162" cy="5731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lvl1pPr>
          </a:lstStyle>
          <a:p>
            <a:pPr/>
            <a:r>
              <a:t>Dice and IoU for semantic segmentation; AJI for instance-level separation.</a:t>
            </a:r>
          </a:p>
        </p:txBody>
      </p:sp>
      <p:sp>
        <p:nvSpPr>
          <p:cNvPr id="277" name="card"/>
          <p:cNvSpPr/>
          <p:nvPr/>
        </p:nvSpPr>
        <p:spPr>
          <a:xfrm>
            <a:off x="3337559" y="1097280"/>
            <a:ext cx="1280161" cy="914401"/>
          </a:xfrm>
          <a:prstGeom prst="roundRect">
            <a:avLst>
              <a:gd name="adj" fmla="val 8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78" name="Text 8"/>
          <p:cNvSpPr txBox="1"/>
          <p:nvPr/>
        </p:nvSpPr>
        <p:spPr>
          <a:xfrm>
            <a:off x="3429000" y="1256373"/>
            <a:ext cx="10972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512 × 512</a:t>
            </a:r>
          </a:p>
        </p:txBody>
      </p:sp>
      <p:sp>
        <p:nvSpPr>
          <p:cNvPr id="279" name="Text 9"/>
          <p:cNvSpPr txBox="1"/>
          <p:nvPr/>
        </p:nvSpPr>
        <p:spPr>
          <a:xfrm>
            <a:off x="3429000" y="1600200"/>
            <a:ext cx="1097281" cy="302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input size, ImageNet statistics</a:t>
            </a:r>
          </a:p>
        </p:txBody>
      </p:sp>
      <p:sp>
        <p:nvSpPr>
          <p:cNvPr id="280" name="card"/>
          <p:cNvSpPr/>
          <p:nvPr/>
        </p:nvSpPr>
        <p:spPr>
          <a:xfrm>
            <a:off x="4709159" y="1097280"/>
            <a:ext cx="1280161" cy="914401"/>
          </a:xfrm>
          <a:prstGeom prst="roundRect">
            <a:avLst>
              <a:gd name="adj" fmla="val 8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81" name="Text 11"/>
          <p:cNvSpPr txBox="1"/>
          <p:nvPr/>
        </p:nvSpPr>
        <p:spPr>
          <a:xfrm>
            <a:off x="4800600" y="1256373"/>
            <a:ext cx="10972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500</a:t>
            </a:r>
          </a:p>
        </p:txBody>
      </p:sp>
      <p:sp>
        <p:nvSpPr>
          <p:cNvPr id="282" name="Text 12"/>
          <p:cNvSpPr txBox="1"/>
          <p:nvPr/>
        </p:nvSpPr>
        <p:spPr>
          <a:xfrm>
            <a:off x="4800600" y="1600200"/>
            <a:ext cx="109728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epochs, batch size 4</a:t>
            </a:r>
          </a:p>
        </p:txBody>
      </p:sp>
      <p:sp>
        <p:nvSpPr>
          <p:cNvPr id="283" name="card"/>
          <p:cNvSpPr/>
          <p:nvPr/>
        </p:nvSpPr>
        <p:spPr>
          <a:xfrm>
            <a:off x="6080759" y="1097280"/>
            <a:ext cx="1280161" cy="914401"/>
          </a:xfrm>
          <a:prstGeom prst="roundRect">
            <a:avLst>
              <a:gd name="adj" fmla="val 8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84" name="Text 14"/>
          <p:cNvSpPr txBox="1"/>
          <p:nvPr/>
        </p:nvSpPr>
        <p:spPr>
          <a:xfrm>
            <a:off x="6172200" y="1256373"/>
            <a:ext cx="10972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AdamW</a:t>
            </a:r>
          </a:p>
        </p:txBody>
      </p:sp>
      <p:sp>
        <p:nvSpPr>
          <p:cNvPr id="285" name="Text 15"/>
          <p:cNvSpPr txBox="1"/>
          <p:nvPr/>
        </p:nvSpPr>
        <p:spPr>
          <a:xfrm>
            <a:off x="6172200" y="1600200"/>
            <a:ext cx="1097281" cy="302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with OneCycleLR schedule</a:t>
            </a:r>
          </a:p>
        </p:txBody>
      </p:sp>
      <p:sp>
        <p:nvSpPr>
          <p:cNvPr id="286" name="card"/>
          <p:cNvSpPr/>
          <p:nvPr/>
        </p:nvSpPr>
        <p:spPr>
          <a:xfrm>
            <a:off x="7452359" y="1097280"/>
            <a:ext cx="1280161" cy="914401"/>
          </a:xfrm>
          <a:prstGeom prst="roundRect">
            <a:avLst>
              <a:gd name="adj" fmla="val 8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87" name="Text 17"/>
          <p:cNvSpPr txBox="1"/>
          <p:nvPr/>
        </p:nvSpPr>
        <p:spPr>
          <a:xfrm>
            <a:off x="7543800" y="1256373"/>
            <a:ext cx="10972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1.0</a:t>
            </a:r>
          </a:p>
        </p:txBody>
      </p:sp>
      <p:sp>
        <p:nvSpPr>
          <p:cNvPr id="288" name="Text 18"/>
          <p:cNvSpPr txBox="1"/>
          <p:nvPr/>
        </p:nvSpPr>
        <p:spPr>
          <a:xfrm>
            <a:off x="7543800" y="1600200"/>
            <a:ext cx="1097281" cy="3021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gradient clipping norm</a:t>
            </a:r>
          </a:p>
        </p:txBody>
      </p:sp>
      <p:sp>
        <p:nvSpPr>
          <p:cNvPr id="289" name="card"/>
          <p:cNvSpPr/>
          <p:nvPr/>
        </p:nvSpPr>
        <p:spPr>
          <a:xfrm>
            <a:off x="3337559" y="2121407"/>
            <a:ext cx="1280161" cy="914401"/>
          </a:xfrm>
          <a:prstGeom prst="roundRect">
            <a:avLst>
              <a:gd name="adj" fmla="val 8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90" name="Text 20"/>
          <p:cNvSpPr txBox="1"/>
          <p:nvPr/>
        </p:nvSpPr>
        <p:spPr>
          <a:xfrm>
            <a:off x="3429000" y="2280501"/>
            <a:ext cx="10972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FP16</a:t>
            </a:r>
          </a:p>
        </p:txBody>
      </p:sp>
      <p:sp>
        <p:nvSpPr>
          <p:cNvPr id="291" name="Text 21"/>
          <p:cNvSpPr txBox="1"/>
          <p:nvPr/>
        </p:nvSpPr>
        <p:spPr>
          <a:xfrm>
            <a:off x="3429000" y="2624327"/>
            <a:ext cx="109728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mixed-precision training</a:t>
            </a:r>
          </a:p>
        </p:txBody>
      </p:sp>
      <p:sp>
        <p:nvSpPr>
          <p:cNvPr id="292" name="card"/>
          <p:cNvSpPr/>
          <p:nvPr/>
        </p:nvSpPr>
        <p:spPr>
          <a:xfrm>
            <a:off x="4709159" y="2121407"/>
            <a:ext cx="1280161" cy="914401"/>
          </a:xfrm>
          <a:prstGeom prst="roundRect">
            <a:avLst>
              <a:gd name="adj" fmla="val 8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93" name="Text 23"/>
          <p:cNvSpPr txBox="1"/>
          <p:nvPr/>
        </p:nvSpPr>
        <p:spPr>
          <a:xfrm>
            <a:off x="4800600" y="2280501"/>
            <a:ext cx="10972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0.999</a:t>
            </a:r>
          </a:p>
        </p:txBody>
      </p:sp>
      <p:sp>
        <p:nvSpPr>
          <p:cNvPr id="294" name="Text 24"/>
          <p:cNvSpPr txBox="1"/>
          <p:nvPr/>
        </p:nvSpPr>
        <p:spPr>
          <a:xfrm>
            <a:off x="4800600" y="2624327"/>
            <a:ext cx="109728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EMA decay, used for val and test</a:t>
            </a:r>
          </a:p>
        </p:txBody>
      </p:sp>
      <p:sp>
        <p:nvSpPr>
          <p:cNvPr id="295" name="card"/>
          <p:cNvSpPr/>
          <p:nvPr/>
        </p:nvSpPr>
        <p:spPr>
          <a:xfrm>
            <a:off x="6080759" y="2121407"/>
            <a:ext cx="1280161" cy="914401"/>
          </a:xfrm>
          <a:prstGeom prst="roundRect">
            <a:avLst>
              <a:gd name="adj" fmla="val 8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96" name="Text 26"/>
          <p:cNvSpPr txBox="1"/>
          <p:nvPr/>
        </p:nvSpPr>
        <p:spPr>
          <a:xfrm>
            <a:off x="6172200" y="2280501"/>
            <a:ext cx="10972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h = 4</a:t>
            </a:r>
          </a:p>
        </p:txBody>
      </p:sp>
      <p:sp>
        <p:nvSpPr>
          <p:cNvPr id="297" name="Text 27"/>
          <p:cNvSpPr txBox="1"/>
          <p:nvPr/>
        </p:nvSpPr>
        <p:spPr>
          <a:xfrm>
            <a:off x="6172200" y="2624327"/>
            <a:ext cx="10972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SBA attention heads</a:t>
            </a:r>
          </a:p>
        </p:txBody>
      </p:sp>
      <p:sp>
        <p:nvSpPr>
          <p:cNvPr id="298" name="card"/>
          <p:cNvSpPr/>
          <p:nvPr/>
        </p:nvSpPr>
        <p:spPr>
          <a:xfrm>
            <a:off x="7452359" y="2121407"/>
            <a:ext cx="1280161" cy="914401"/>
          </a:xfrm>
          <a:prstGeom prst="roundRect">
            <a:avLst>
              <a:gd name="adj" fmla="val 80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299" name="Text 29"/>
          <p:cNvSpPr txBox="1"/>
          <p:nvPr/>
        </p:nvSpPr>
        <p:spPr>
          <a:xfrm>
            <a:off x="7543800" y="2280501"/>
            <a:ext cx="10972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chemeClr val="accent1"/>
                </a:solidFill>
              </a:defRPr>
            </a:lvl1pPr>
          </a:lstStyle>
          <a:p>
            <a:pPr/>
            <a:r>
              <a:t>0.1</a:t>
            </a:r>
          </a:p>
        </p:txBody>
      </p:sp>
      <p:sp>
        <p:nvSpPr>
          <p:cNvPr id="300" name="Text 30"/>
          <p:cNvSpPr txBox="1"/>
          <p:nvPr/>
        </p:nvSpPr>
        <p:spPr>
          <a:xfrm>
            <a:off x="7543800" y="2624327"/>
            <a:ext cx="1097281"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initial γ, ASPP dropout</a:t>
            </a:r>
          </a:p>
        </p:txBody>
      </p:sp>
      <p:sp>
        <p:nvSpPr>
          <p:cNvPr id="301" name="aug-strip"/>
          <p:cNvSpPr/>
          <p:nvPr/>
        </p:nvSpPr>
        <p:spPr>
          <a:xfrm>
            <a:off x="3337559" y="3200400"/>
            <a:ext cx="5394961" cy="704088"/>
          </a:xfrm>
          <a:prstGeom prst="roundRect">
            <a:avLst>
              <a:gd name="adj" fmla="val 10390"/>
            </a:avLst>
          </a:prstGeom>
          <a:solidFill>
            <a:srgbClr val="EAF4FB"/>
          </a:solidFill>
          <a:ln w="12700">
            <a:solidFill>
              <a:srgbClr val="EAF4FB"/>
            </a:solidFill>
          </a:ln>
        </p:spPr>
        <p:txBody>
          <a:bodyPr lIns="45719" rIns="45719"/>
          <a:lstStyle/>
          <a:p>
            <a:pPr/>
          </a:p>
        </p:txBody>
      </p:sp>
      <p:sp>
        <p:nvSpPr>
          <p:cNvPr id="302" name="Text 32"/>
          <p:cNvSpPr txBox="1"/>
          <p:nvPr/>
        </p:nvSpPr>
        <p:spPr>
          <a:xfrm>
            <a:off x="3493008" y="3367463"/>
            <a:ext cx="51206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003373"/>
                </a:solidFill>
              </a:defRPr>
            </a:pPr>
            <a:r>
              <a:t>Augmentation  </a:t>
            </a:r>
            <a:r>
              <a:rPr b="0">
                <a:solidFill>
                  <a:srgbClr val="14213D"/>
                </a:solidFill>
              </a:rPr>
              <a:t>flips, rotations, affine jitter, colour jitter, Gaussian blur and noise, random erasing.</a:t>
            </a:r>
          </a:p>
        </p:txBody>
      </p:sp>
      <p:sp>
        <p:nvSpPr>
          <p:cNvPr id="303" name="Slide Number Placeholder 0"/>
          <p:cNvSpPr txBox="1"/>
          <p:nvPr>
            <p:ph type="sldNum" sz="quarter" idx="4294967295"/>
          </p:nvPr>
        </p:nvSpPr>
        <p:spPr>
          <a:xfrm>
            <a:off x="8486770" y="4754879"/>
            <a:ext cx="245751"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Text 0"/>
          <p:cNvSpPr txBox="1"/>
          <p:nvPr>
            <p:ph type="title"/>
          </p:nvPr>
        </p:nvSpPr>
        <p:spPr>
          <a:xfrm>
            <a:off x="411479" y="566927"/>
            <a:ext cx="8321042" cy="457201"/>
          </a:xfrm>
          <a:prstGeom prst="rect">
            <a:avLst/>
          </a:prstGeom>
        </p:spPr>
        <p:txBody>
          <a:bodyPr lIns="0" tIns="0" rIns="0" bIns="0" anchor="ctr"/>
          <a:lstStyle/>
          <a:p>
            <a:pPr/>
            <a:r>
              <a:t>Comparison with recent methods</a:t>
            </a:r>
          </a:p>
        </p:txBody>
      </p:sp>
      <p:sp>
        <p:nvSpPr>
          <p:cNvPr id="308" name="card"/>
          <p:cNvSpPr/>
          <p:nvPr/>
        </p:nvSpPr>
        <p:spPr>
          <a:xfrm>
            <a:off x="411480" y="1097280"/>
            <a:ext cx="8321041" cy="2304289"/>
          </a:xfrm>
          <a:prstGeom prst="roundRect">
            <a:avLst>
              <a:gd name="adj" fmla="val 3175"/>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pic>
        <p:nvPicPr>
          <p:cNvPr id="309" name="table-3-comparison" descr="table-3-comparison"/>
          <p:cNvPicPr>
            <a:picLocks noChangeAspect="1"/>
          </p:cNvPicPr>
          <p:nvPr/>
        </p:nvPicPr>
        <p:blipFill>
          <a:blip r:embed="rId3">
            <a:extLst/>
          </a:blip>
          <a:stretch>
            <a:fillRect/>
          </a:stretch>
        </p:blipFill>
        <p:spPr>
          <a:xfrm>
            <a:off x="914400" y="1170432"/>
            <a:ext cx="7315200" cy="1952883"/>
          </a:xfrm>
          <a:prstGeom prst="rect">
            <a:avLst/>
          </a:prstGeom>
          <a:ln w="12700">
            <a:miter lim="400000"/>
          </a:ln>
        </p:spPr>
      </p:pic>
      <p:sp>
        <p:nvSpPr>
          <p:cNvPr id="310" name="Text 2"/>
          <p:cNvSpPr txBox="1"/>
          <p:nvPr/>
        </p:nvSpPr>
        <p:spPr>
          <a:xfrm>
            <a:off x="594359" y="3169034"/>
            <a:ext cx="77724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Dice / IoU (%). Other baselines: HI-Net [22], Micro-Net [23], U-Net++ [24], Deepfuzz [25].</a:t>
            </a:r>
          </a:p>
        </p:txBody>
      </p:sp>
      <p:sp>
        <p:nvSpPr>
          <p:cNvPr id="311" name="stat-chip"/>
          <p:cNvSpPr/>
          <p:nvPr/>
        </p:nvSpPr>
        <p:spPr>
          <a:xfrm>
            <a:off x="411480" y="3520440"/>
            <a:ext cx="2697480" cy="384049"/>
          </a:xfrm>
          <a:prstGeom prst="roundRect">
            <a:avLst>
              <a:gd name="adj" fmla="val 19048"/>
            </a:avLst>
          </a:prstGeom>
          <a:solidFill>
            <a:srgbClr val="EAF4FB"/>
          </a:solidFill>
          <a:ln w="12700">
            <a:solidFill>
              <a:srgbClr val="EAF4FB"/>
            </a:solidFill>
          </a:ln>
        </p:spPr>
        <p:txBody>
          <a:bodyPr lIns="45719" rIns="45719"/>
          <a:lstStyle/>
          <a:p>
            <a:pPr/>
          </a:p>
        </p:txBody>
      </p:sp>
      <p:sp>
        <p:nvSpPr>
          <p:cNvPr id="312" name="Text 4"/>
          <p:cNvSpPr txBox="1"/>
          <p:nvPr/>
        </p:nvSpPr>
        <p:spPr>
          <a:xfrm>
            <a:off x="539495" y="3619186"/>
            <a:ext cx="256032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chemeClr val="accent1"/>
                </a:solidFill>
              </a:defRPr>
            </a:pPr>
            <a:r>
              <a:t>+1.86 Dice  </a:t>
            </a:r>
            <a:r>
              <a:rPr b="0" sz="1100">
                <a:solidFill>
                  <a:srgbClr val="14213D"/>
                </a:solidFill>
              </a:rPr>
              <a:t>TNBC vs AFINITI [9]</a:t>
            </a:r>
          </a:p>
        </p:txBody>
      </p:sp>
      <p:sp>
        <p:nvSpPr>
          <p:cNvPr id="313" name="stat-chip"/>
          <p:cNvSpPr/>
          <p:nvPr/>
        </p:nvSpPr>
        <p:spPr>
          <a:xfrm>
            <a:off x="3223260" y="3520440"/>
            <a:ext cx="2697480" cy="384049"/>
          </a:xfrm>
          <a:prstGeom prst="roundRect">
            <a:avLst>
              <a:gd name="adj" fmla="val 19048"/>
            </a:avLst>
          </a:prstGeom>
          <a:solidFill>
            <a:srgbClr val="EAF4FB"/>
          </a:solidFill>
          <a:ln w="12700">
            <a:solidFill>
              <a:srgbClr val="EAF4FB"/>
            </a:solidFill>
          </a:ln>
        </p:spPr>
        <p:txBody>
          <a:bodyPr lIns="45719" rIns="45719"/>
          <a:lstStyle/>
          <a:p>
            <a:pPr/>
          </a:p>
        </p:txBody>
      </p:sp>
      <p:sp>
        <p:nvSpPr>
          <p:cNvPr id="314" name="Text 6"/>
          <p:cNvSpPr txBox="1"/>
          <p:nvPr/>
        </p:nvSpPr>
        <p:spPr>
          <a:xfrm>
            <a:off x="3351276" y="3619186"/>
            <a:ext cx="25603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chemeClr val="accent1"/>
                </a:solidFill>
              </a:defRPr>
            </a:pPr>
            <a:r>
              <a:t>+0.86 Dice  </a:t>
            </a:r>
            <a:r>
              <a:rPr b="0" sz="1100">
                <a:solidFill>
                  <a:srgbClr val="14213D"/>
                </a:solidFill>
              </a:rPr>
              <a:t>MoNuSeg vs DeltaSeg [8]</a:t>
            </a:r>
          </a:p>
        </p:txBody>
      </p:sp>
      <p:sp>
        <p:nvSpPr>
          <p:cNvPr id="315" name="stat-chip"/>
          <p:cNvSpPr/>
          <p:nvPr/>
        </p:nvSpPr>
        <p:spPr>
          <a:xfrm>
            <a:off x="6035040" y="3520440"/>
            <a:ext cx="2697481" cy="384049"/>
          </a:xfrm>
          <a:prstGeom prst="roundRect">
            <a:avLst>
              <a:gd name="adj" fmla="val 19048"/>
            </a:avLst>
          </a:prstGeom>
          <a:solidFill>
            <a:srgbClr val="EAF4FB"/>
          </a:solidFill>
          <a:ln w="12700">
            <a:solidFill>
              <a:srgbClr val="EAF4FB"/>
            </a:solidFill>
          </a:ln>
        </p:spPr>
        <p:txBody>
          <a:bodyPr lIns="45719" rIns="45719"/>
          <a:lstStyle/>
          <a:p>
            <a:pPr/>
          </a:p>
        </p:txBody>
      </p:sp>
      <p:sp>
        <p:nvSpPr>
          <p:cNvPr id="316" name="Text 8"/>
          <p:cNvSpPr txBox="1"/>
          <p:nvPr/>
        </p:nvSpPr>
        <p:spPr>
          <a:xfrm>
            <a:off x="6163055" y="3619186"/>
            <a:ext cx="256032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solidFill>
                  <a:schemeClr val="accent1"/>
                </a:solidFill>
              </a:defRPr>
            </a:pPr>
            <a:r>
              <a:t>+4.23 Dice  </a:t>
            </a:r>
            <a:r>
              <a:rPr b="0" sz="1100">
                <a:solidFill>
                  <a:srgbClr val="14213D"/>
                </a:solidFill>
              </a:rPr>
              <a:t>CPM-15 vs AFINITI [9]</a:t>
            </a:r>
          </a:p>
        </p:txBody>
      </p:sp>
      <p:sp>
        <p:nvSpPr>
          <p:cNvPr id="317" name="Slide Number Placeholder 0"/>
          <p:cNvSpPr txBox="1"/>
          <p:nvPr>
            <p:ph type="sldNum" sz="quarter" idx="4294967295"/>
          </p:nvPr>
        </p:nvSpPr>
        <p:spPr>
          <a:xfrm>
            <a:off x="8486770" y="4754879"/>
            <a:ext cx="245751"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Text 0"/>
          <p:cNvSpPr txBox="1"/>
          <p:nvPr>
            <p:ph type="title"/>
          </p:nvPr>
        </p:nvSpPr>
        <p:spPr>
          <a:xfrm>
            <a:off x="411479" y="566927"/>
            <a:ext cx="8321042" cy="457201"/>
          </a:xfrm>
          <a:prstGeom prst="rect">
            <a:avLst/>
          </a:prstGeom>
        </p:spPr>
        <p:txBody>
          <a:bodyPr lIns="0" tIns="0" rIns="0" bIns="0" anchor="ctr"/>
          <a:lstStyle/>
          <a:p>
            <a:pPr/>
            <a:r>
              <a:t>Ablation studies</a:t>
            </a:r>
          </a:p>
        </p:txBody>
      </p:sp>
      <p:sp>
        <p:nvSpPr>
          <p:cNvPr id="322" name="Text 1"/>
          <p:cNvSpPr txBox="1"/>
          <p:nvPr/>
        </p:nvSpPr>
        <p:spPr>
          <a:xfrm>
            <a:off x="411479" y="1069847"/>
            <a:ext cx="466344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Table 1. Architectural components (A: pre-bottleneck gate, B: SBA attention, C: attention gates, D: boundary loss)</a:t>
            </a:r>
          </a:p>
        </p:txBody>
      </p:sp>
      <p:sp>
        <p:nvSpPr>
          <p:cNvPr id="323" name="card"/>
          <p:cNvSpPr/>
          <p:nvPr/>
        </p:nvSpPr>
        <p:spPr>
          <a:xfrm>
            <a:off x="411480" y="1371600"/>
            <a:ext cx="4663441" cy="1389889"/>
          </a:xfrm>
          <a:prstGeom prst="roundRect">
            <a:avLst>
              <a:gd name="adj" fmla="val 5263"/>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pic>
        <p:nvPicPr>
          <p:cNvPr id="324" name="table-1-architecture-ablation" descr="table-1-architecture-ablation"/>
          <p:cNvPicPr>
            <a:picLocks noChangeAspect="1"/>
          </p:cNvPicPr>
          <p:nvPr/>
        </p:nvPicPr>
        <p:blipFill>
          <a:blip r:embed="rId3">
            <a:extLst/>
          </a:blip>
          <a:stretch>
            <a:fillRect/>
          </a:stretch>
        </p:blipFill>
        <p:spPr>
          <a:xfrm>
            <a:off x="457200" y="1399032"/>
            <a:ext cx="4572000" cy="1349933"/>
          </a:xfrm>
          <a:prstGeom prst="rect">
            <a:avLst/>
          </a:prstGeom>
          <a:ln w="12700">
            <a:miter lim="400000"/>
          </a:ln>
        </p:spPr>
      </p:pic>
      <p:sp>
        <p:nvSpPr>
          <p:cNvPr id="325" name="Text 3"/>
          <p:cNvSpPr txBox="1"/>
          <p:nvPr/>
        </p:nvSpPr>
        <p:spPr>
          <a:xfrm>
            <a:off x="411479" y="2798064"/>
            <a:ext cx="46634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chemeClr val="accent6"/>
                </a:solidFill>
              </a:defRPr>
            </a:lvl1pPr>
          </a:lstStyle>
          <a:p>
            <a:pPr/>
            <a:r>
              <a:t>Table 2. Composite loss terms</a:t>
            </a:r>
          </a:p>
        </p:txBody>
      </p:sp>
      <p:sp>
        <p:nvSpPr>
          <p:cNvPr id="326" name="card"/>
          <p:cNvSpPr/>
          <p:nvPr/>
        </p:nvSpPr>
        <p:spPr>
          <a:xfrm>
            <a:off x="411480" y="2990088"/>
            <a:ext cx="4663441" cy="932689"/>
          </a:xfrm>
          <a:prstGeom prst="roundRect">
            <a:avLst>
              <a:gd name="adj" fmla="val 7843"/>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pic>
        <p:nvPicPr>
          <p:cNvPr id="327" name="table-2-loss-ablation" descr="table-2-loss-ablation"/>
          <p:cNvPicPr>
            <a:picLocks noChangeAspect="1"/>
          </p:cNvPicPr>
          <p:nvPr/>
        </p:nvPicPr>
        <p:blipFill>
          <a:blip r:embed="rId4">
            <a:extLst/>
          </a:blip>
          <a:stretch>
            <a:fillRect/>
          </a:stretch>
        </p:blipFill>
        <p:spPr>
          <a:xfrm>
            <a:off x="457200" y="3008376"/>
            <a:ext cx="4572000" cy="911275"/>
          </a:xfrm>
          <a:prstGeom prst="rect">
            <a:avLst/>
          </a:prstGeom>
          <a:ln w="12700">
            <a:miter lim="400000"/>
          </a:ln>
        </p:spPr>
      </p:pic>
      <p:sp>
        <p:nvSpPr>
          <p:cNvPr id="328" name="card"/>
          <p:cNvSpPr/>
          <p:nvPr/>
        </p:nvSpPr>
        <p:spPr>
          <a:xfrm>
            <a:off x="5303520" y="1097280"/>
            <a:ext cx="3429001" cy="868681"/>
          </a:xfrm>
          <a:prstGeom prst="roundRect">
            <a:avLst>
              <a:gd name="adj" fmla="val 842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29" name="Text 6"/>
          <p:cNvSpPr txBox="1"/>
          <p:nvPr/>
        </p:nvSpPr>
        <p:spPr>
          <a:xfrm>
            <a:off x="5458967" y="1170432"/>
            <a:ext cx="3154682" cy="639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chemeClr val="accent1"/>
                </a:solidFill>
              </a:defRPr>
            </a:pPr>
            <a:r>
              <a:t>+4.3 to +4.4 AJI</a:t>
            </a:r>
          </a:p>
          <a:p>
            <a:pPr>
              <a:defRPr sz="1200"/>
            </a:pPr>
            <a:r>
              <a:t>from SBA attention on every dataset, the largest single step in Table 1.</a:t>
            </a:r>
          </a:p>
        </p:txBody>
      </p:sp>
      <p:sp>
        <p:nvSpPr>
          <p:cNvPr id="330" name="card"/>
          <p:cNvSpPr/>
          <p:nvPr/>
        </p:nvSpPr>
        <p:spPr>
          <a:xfrm>
            <a:off x="5303520" y="2057400"/>
            <a:ext cx="3429001" cy="868681"/>
          </a:xfrm>
          <a:prstGeom prst="roundRect">
            <a:avLst>
              <a:gd name="adj" fmla="val 842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31" name="Text 8"/>
          <p:cNvSpPr txBox="1"/>
          <p:nvPr/>
        </p:nvSpPr>
        <p:spPr>
          <a:xfrm>
            <a:off x="5458967" y="2130551"/>
            <a:ext cx="3154682" cy="639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chemeClr val="accent1"/>
                </a:solidFill>
              </a:defRPr>
            </a:pPr>
            <a:r>
              <a:t>+3.2 to +3.4 AJI</a:t>
            </a:r>
          </a:p>
          <a:p>
            <a:pPr>
              <a:defRPr sz="1200"/>
            </a:pPr>
            <a:r>
              <a:t>from adding MSGE to the loss, which helps watershed separation.</a:t>
            </a:r>
          </a:p>
        </p:txBody>
      </p:sp>
      <p:sp>
        <p:nvSpPr>
          <p:cNvPr id="332" name="card"/>
          <p:cNvSpPr/>
          <p:nvPr/>
        </p:nvSpPr>
        <p:spPr>
          <a:xfrm>
            <a:off x="5303520" y="3017520"/>
            <a:ext cx="3429001" cy="868681"/>
          </a:xfrm>
          <a:prstGeom prst="roundRect">
            <a:avLst>
              <a:gd name="adj" fmla="val 842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33" name="Text 10"/>
          <p:cNvSpPr txBox="1"/>
          <p:nvPr/>
        </p:nvSpPr>
        <p:spPr>
          <a:xfrm>
            <a:off x="5458967" y="3090672"/>
            <a:ext cx="3154682" cy="639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chemeClr val="accent1"/>
                </a:solidFill>
              </a:defRPr>
            </a:pPr>
            <a:r>
              <a:t>ResNet-18 had better results</a:t>
            </a:r>
          </a:p>
          <a:p>
            <a:pPr>
              <a:defRPr sz="1200"/>
            </a:pPr>
            <a:r>
              <a:t>over MobileNet-v2 [19], EfficientNet-B0 [20], SqueezeNet [21], ResNet-34 and ResNet-50.</a:t>
            </a:r>
          </a:p>
        </p:txBody>
      </p:sp>
      <p:sp>
        <p:nvSpPr>
          <p:cNvPr id="334" name="Slide Number Placeholder 0"/>
          <p:cNvSpPr txBox="1"/>
          <p:nvPr>
            <p:ph type="sldNum" sz="quarter" idx="4294967295"/>
          </p:nvPr>
        </p:nvSpPr>
        <p:spPr>
          <a:xfrm>
            <a:off x="8486770" y="4754879"/>
            <a:ext cx="245751"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Text 0"/>
          <p:cNvSpPr txBox="1"/>
          <p:nvPr>
            <p:ph type="title"/>
          </p:nvPr>
        </p:nvSpPr>
        <p:spPr>
          <a:xfrm>
            <a:off x="411479" y="566927"/>
            <a:ext cx="8321042" cy="457201"/>
          </a:xfrm>
          <a:prstGeom prst="rect">
            <a:avLst/>
          </a:prstGeom>
        </p:spPr>
        <p:txBody>
          <a:bodyPr lIns="0" tIns="0" rIns="0" bIns="0" anchor="ctr"/>
          <a:lstStyle/>
          <a:p>
            <a:pPr/>
            <a:r>
              <a:t>Qualitative results</a:t>
            </a:r>
          </a:p>
        </p:txBody>
      </p:sp>
      <p:sp>
        <p:nvSpPr>
          <p:cNvPr id="339" name="card"/>
          <p:cNvSpPr/>
          <p:nvPr/>
        </p:nvSpPr>
        <p:spPr>
          <a:xfrm>
            <a:off x="411480" y="1069847"/>
            <a:ext cx="4754880" cy="2852929"/>
          </a:xfrm>
          <a:prstGeom prst="roundRect">
            <a:avLst>
              <a:gd name="adj" fmla="val 2564"/>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pic>
        <p:nvPicPr>
          <p:cNvPr id="340" name="figure-2-qualitative" descr="figure-2-qualitative"/>
          <p:cNvPicPr>
            <a:picLocks noChangeAspect="1"/>
          </p:cNvPicPr>
          <p:nvPr/>
        </p:nvPicPr>
        <p:blipFill>
          <a:blip r:embed="rId3">
            <a:extLst/>
          </a:blip>
          <a:stretch>
            <a:fillRect/>
          </a:stretch>
        </p:blipFill>
        <p:spPr>
          <a:xfrm>
            <a:off x="475487" y="1143000"/>
            <a:ext cx="4626866" cy="2797420"/>
          </a:xfrm>
          <a:prstGeom prst="rect">
            <a:avLst/>
          </a:prstGeom>
          <a:ln w="12700">
            <a:miter lim="400000"/>
          </a:ln>
        </p:spPr>
      </p:pic>
      <p:sp>
        <p:nvSpPr>
          <p:cNvPr id="341" name="Text 2"/>
          <p:cNvSpPr txBox="1"/>
          <p:nvPr/>
        </p:nvSpPr>
        <p:spPr>
          <a:xfrm>
            <a:off x="5394959" y="1097280"/>
            <a:ext cx="3337560" cy="5759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003373"/>
                </a:solidFill>
              </a:defRPr>
            </a:pPr>
            <a:r>
              <a:t>Columns</a:t>
            </a:r>
          </a:p>
          <a:p>
            <a:pPr>
              <a:defRPr sz="1200"/>
            </a:pPr>
            <a:r>
              <a:t>Input image, ground truth, predicted probabilities, binary mask, Grad-CAM overlay.</a:t>
            </a:r>
          </a:p>
        </p:txBody>
      </p:sp>
      <p:sp>
        <p:nvSpPr>
          <p:cNvPr id="342" name="Text 3"/>
          <p:cNvSpPr txBox="1"/>
          <p:nvPr/>
        </p:nvSpPr>
        <p:spPr>
          <a:xfrm>
            <a:off x="5394959" y="1901951"/>
            <a:ext cx="333756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Rows, top to bottom</a:t>
            </a:r>
          </a:p>
        </p:txBody>
      </p:sp>
      <p:sp>
        <p:nvSpPr>
          <p:cNvPr id="343" name="card"/>
          <p:cNvSpPr/>
          <p:nvPr/>
        </p:nvSpPr>
        <p:spPr>
          <a:xfrm>
            <a:off x="5394959" y="2212848"/>
            <a:ext cx="3337561" cy="420625"/>
          </a:xfrm>
          <a:prstGeom prst="roundRect">
            <a:avLst>
              <a:gd name="adj" fmla="val 1739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44" name="Text 5"/>
          <p:cNvSpPr txBox="1"/>
          <p:nvPr/>
        </p:nvSpPr>
        <p:spPr>
          <a:xfrm>
            <a:off x="5532120" y="2339779"/>
            <a:ext cx="9144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lvl1pPr>
          </a:lstStyle>
          <a:p>
            <a:pPr/>
            <a:r>
              <a:t>TNBC</a:t>
            </a:r>
          </a:p>
        </p:txBody>
      </p:sp>
      <p:sp>
        <p:nvSpPr>
          <p:cNvPr id="345" name="Text 6"/>
          <p:cNvSpPr txBox="1"/>
          <p:nvPr/>
        </p:nvSpPr>
        <p:spPr>
          <a:xfrm>
            <a:off x="6446520" y="2339779"/>
            <a:ext cx="118872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chemeClr val="accent1"/>
                </a:solidFill>
              </a:defRPr>
            </a:lvl1pPr>
          </a:lstStyle>
          <a:p>
            <a:pPr/>
            <a:r>
              <a:t>Dice 0.8965</a:t>
            </a:r>
          </a:p>
        </p:txBody>
      </p:sp>
      <p:sp>
        <p:nvSpPr>
          <p:cNvPr id="346" name="Text 7"/>
          <p:cNvSpPr txBox="1"/>
          <p:nvPr/>
        </p:nvSpPr>
        <p:spPr>
          <a:xfrm>
            <a:off x="7680959" y="2344727"/>
            <a:ext cx="960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chemeClr val="accent6"/>
                </a:solidFill>
              </a:defRPr>
            </a:lvl1pPr>
          </a:lstStyle>
          <a:p>
            <a:pPr/>
            <a:r>
              <a:t>thr 0.90</a:t>
            </a:r>
          </a:p>
        </p:txBody>
      </p:sp>
      <p:sp>
        <p:nvSpPr>
          <p:cNvPr id="347" name="card"/>
          <p:cNvSpPr/>
          <p:nvPr/>
        </p:nvSpPr>
        <p:spPr>
          <a:xfrm>
            <a:off x="5394959" y="2715767"/>
            <a:ext cx="3337561" cy="420625"/>
          </a:xfrm>
          <a:prstGeom prst="roundRect">
            <a:avLst>
              <a:gd name="adj" fmla="val 1739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48" name="Text 9"/>
          <p:cNvSpPr txBox="1"/>
          <p:nvPr/>
        </p:nvSpPr>
        <p:spPr>
          <a:xfrm>
            <a:off x="5532120" y="2842698"/>
            <a:ext cx="9144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lvl1pPr>
          </a:lstStyle>
          <a:p>
            <a:pPr/>
            <a:r>
              <a:t>CPM-15</a:t>
            </a:r>
          </a:p>
        </p:txBody>
      </p:sp>
      <p:sp>
        <p:nvSpPr>
          <p:cNvPr id="349" name="Text 10"/>
          <p:cNvSpPr txBox="1"/>
          <p:nvPr/>
        </p:nvSpPr>
        <p:spPr>
          <a:xfrm>
            <a:off x="6446520" y="2842698"/>
            <a:ext cx="118872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chemeClr val="accent1"/>
                </a:solidFill>
              </a:defRPr>
            </a:lvl1pPr>
          </a:lstStyle>
          <a:p>
            <a:pPr/>
            <a:r>
              <a:t>Dice 0.9039</a:t>
            </a:r>
          </a:p>
        </p:txBody>
      </p:sp>
      <p:sp>
        <p:nvSpPr>
          <p:cNvPr id="350" name="Text 11"/>
          <p:cNvSpPr txBox="1"/>
          <p:nvPr/>
        </p:nvSpPr>
        <p:spPr>
          <a:xfrm>
            <a:off x="7680959" y="2847647"/>
            <a:ext cx="960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chemeClr val="accent6"/>
                </a:solidFill>
              </a:defRPr>
            </a:lvl1pPr>
          </a:lstStyle>
          <a:p>
            <a:pPr/>
            <a:r>
              <a:t>thr 0.85</a:t>
            </a:r>
          </a:p>
        </p:txBody>
      </p:sp>
      <p:sp>
        <p:nvSpPr>
          <p:cNvPr id="351" name="card"/>
          <p:cNvSpPr/>
          <p:nvPr/>
        </p:nvSpPr>
        <p:spPr>
          <a:xfrm>
            <a:off x="5394959" y="3218688"/>
            <a:ext cx="3337561" cy="420625"/>
          </a:xfrm>
          <a:prstGeom prst="roundRect">
            <a:avLst>
              <a:gd name="adj" fmla="val 17391"/>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52" name="Text 13"/>
          <p:cNvSpPr txBox="1"/>
          <p:nvPr/>
        </p:nvSpPr>
        <p:spPr>
          <a:xfrm>
            <a:off x="5532120" y="3345619"/>
            <a:ext cx="9144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lvl1pPr>
          </a:lstStyle>
          <a:p>
            <a:pPr/>
            <a:r>
              <a:t>MoNuSeg</a:t>
            </a:r>
          </a:p>
        </p:txBody>
      </p:sp>
      <p:sp>
        <p:nvSpPr>
          <p:cNvPr id="353" name="Text 14"/>
          <p:cNvSpPr txBox="1"/>
          <p:nvPr/>
        </p:nvSpPr>
        <p:spPr>
          <a:xfrm>
            <a:off x="6446520" y="3345619"/>
            <a:ext cx="118872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chemeClr val="accent1"/>
                </a:solidFill>
              </a:defRPr>
            </a:lvl1pPr>
          </a:lstStyle>
          <a:p>
            <a:pPr/>
            <a:r>
              <a:t>Dice 0.8603</a:t>
            </a:r>
          </a:p>
        </p:txBody>
      </p:sp>
      <p:sp>
        <p:nvSpPr>
          <p:cNvPr id="354" name="Text 15"/>
          <p:cNvSpPr txBox="1"/>
          <p:nvPr/>
        </p:nvSpPr>
        <p:spPr>
          <a:xfrm>
            <a:off x="7680959" y="3350567"/>
            <a:ext cx="960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chemeClr val="accent6"/>
                </a:solidFill>
              </a:defRPr>
            </a:lvl1pPr>
          </a:lstStyle>
          <a:p>
            <a:pPr/>
            <a:r>
              <a:t>thr 0.80</a:t>
            </a:r>
          </a:p>
        </p:txBody>
      </p:sp>
      <p:sp>
        <p:nvSpPr>
          <p:cNvPr id="355" name="Slide Number Placeholder 0"/>
          <p:cNvSpPr txBox="1"/>
          <p:nvPr>
            <p:ph type="sldNum" sz="quarter" idx="4294967295"/>
          </p:nvPr>
        </p:nvSpPr>
        <p:spPr>
          <a:xfrm>
            <a:off x="8486770" y="4754879"/>
            <a:ext cx="245751"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Text 0"/>
          <p:cNvSpPr txBox="1"/>
          <p:nvPr>
            <p:ph type="title"/>
          </p:nvPr>
        </p:nvSpPr>
        <p:spPr>
          <a:xfrm>
            <a:off x="411479" y="566927"/>
            <a:ext cx="8321042" cy="457201"/>
          </a:xfrm>
          <a:prstGeom prst="rect">
            <a:avLst/>
          </a:prstGeom>
        </p:spPr>
        <p:txBody>
          <a:bodyPr lIns="0" tIns="0" rIns="0" bIns="0" anchor="ctr"/>
          <a:lstStyle/>
          <a:p>
            <a:pPr/>
            <a:r>
              <a:t>Conclusion, limitations and next steps</a:t>
            </a:r>
          </a:p>
        </p:txBody>
      </p:sp>
      <p:sp>
        <p:nvSpPr>
          <p:cNvPr id="360" name="card"/>
          <p:cNvSpPr/>
          <p:nvPr/>
        </p:nvSpPr>
        <p:spPr>
          <a:xfrm>
            <a:off x="411480" y="1097280"/>
            <a:ext cx="2651761" cy="2286001"/>
          </a:xfrm>
          <a:prstGeom prst="roundRect">
            <a:avLst>
              <a:gd name="adj" fmla="val 32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61" name="Text 2"/>
          <p:cNvSpPr txBox="1"/>
          <p:nvPr/>
        </p:nvSpPr>
        <p:spPr>
          <a:xfrm>
            <a:off x="566927" y="1170432"/>
            <a:ext cx="23317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What we showed</a:t>
            </a:r>
          </a:p>
        </p:txBody>
      </p:sp>
      <p:sp>
        <p:nvSpPr>
          <p:cNvPr id="362" name="Text 3"/>
          <p:cNvSpPr txBox="1"/>
          <p:nvPr/>
        </p:nvSpPr>
        <p:spPr>
          <a:xfrm>
            <a:off x="566927" y="1508760"/>
            <a:ext cx="2359154" cy="161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500"/>
              </a:spcBef>
              <a:buSzPct val="100000"/>
              <a:buChar char="•"/>
              <a:defRPr sz="1200"/>
            </a:pPr>
            <a:r>
              <a:t>Boundary priors injected at the Scharr gate, SBA attention and gated skips.</a:t>
            </a:r>
          </a:p>
          <a:p>
            <a:pPr marL="342900" indent="-342900">
              <a:spcBef>
                <a:spcPts val="500"/>
              </a:spcBef>
              <a:buSzPct val="100000"/>
              <a:buChar char="•"/>
              <a:defRPr sz="1200"/>
            </a:pPr>
            <a:r>
              <a:t>Best Dice, IoU and AJI on TNBC, MoNuSeg and CPM-15.</a:t>
            </a:r>
          </a:p>
          <a:p>
            <a:pPr marL="342900" indent="-342900">
              <a:spcBef>
                <a:spcPts val="500"/>
              </a:spcBef>
              <a:buSzPct val="100000"/>
              <a:buChar char="•"/>
              <a:defRPr sz="1200"/>
            </a:pPr>
            <a:r>
              <a:t>AJI up by as much as 9.6 points, with fewer merges in dense clusters.</a:t>
            </a:r>
          </a:p>
        </p:txBody>
      </p:sp>
      <p:sp>
        <p:nvSpPr>
          <p:cNvPr id="363" name="card"/>
          <p:cNvSpPr/>
          <p:nvPr/>
        </p:nvSpPr>
        <p:spPr>
          <a:xfrm>
            <a:off x="3246120" y="1097280"/>
            <a:ext cx="2651761" cy="2286001"/>
          </a:xfrm>
          <a:prstGeom prst="roundRect">
            <a:avLst>
              <a:gd name="adj" fmla="val 32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64" name="Text 5"/>
          <p:cNvSpPr txBox="1"/>
          <p:nvPr/>
        </p:nvSpPr>
        <p:spPr>
          <a:xfrm>
            <a:off x="3401567" y="1170432"/>
            <a:ext cx="23317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Limitations</a:t>
            </a:r>
          </a:p>
        </p:txBody>
      </p:sp>
      <p:sp>
        <p:nvSpPr>
          <p:cNvPr id="365" name="Text 6"/>
          <p:cNvSpPr txBox="1"/>
          <p:nvPr/>
        </p:nvSpPr>
        <p:spPr>
          <a:xfrm>
            <a:off x="3401567" y="1508760"/>
            <a:ext cx="2359154" cy="142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500"/>
              </a:spcBef>
              <a:buSzPct val="100000"/>
              <a:buChar char="•"/>
              <a:defRPr sz="1200"/>
            </a:pPr>
            <a:r>
              <a:t>HV supervision falls back on connected components without native instance labels.</a:t>
            </a:r>
          </a:p>
          <a:p>
            <a:pPr marL="342900" indent="-342900">
              <a:spcBef>
                <a:spcPts val="500"/>
              </a:spcBef>
              <a:buSzPct val="100000"/>
              <a:buChar char="•"/>
              <a:defRPr sz="1200"/>
            </a:pPr>
            <a:r>
              <a:t>Exact softmax SBA runs only at the low-resolution bottleneck.</a:t>
            </a:r>
          </a:p>
          <a:p>
            <a:pPr marL="342900" indent="-342900">
              <a:spcBef>
                <a:spcPts val="500"/>
              </a:spcBef>
              <a:buSzPct val="100000"/>
              <a:buChar char="•"/>
              <a:defRPr sz="1200"/>
            </a:pPr>
            <a:r>
              <a:t>Fixed boundary filters may not suit every modality or stain.</a:t>
            </a:r>
          </a:p>
        </p:txBody>
      </p:sp>
      <p:sp>
        <p:nvSpPr>
          <p:cNvPr id="366" name="card"/>
          <p:cNvSpPr/>
          <p:nvPr/>
        </p:nvSpPr>
        <p:spPr>
          <a:xfrm>
            <a:off x="6080759" y="1097280"/>
            <a:ext cx="2651761" cy="2286001"/>
          </a:xfrm>
          <a:prstGeom prst="roundRect">
            <a:avLst>
              <a:gd name="adj" fmla="val 3200"/>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67" name="Text 8"/>
          <p:cNvSpPr txBox="1"/>
          <p:nvPr/>
        </p:nvSpPr>
        <p:spPr>
          <a:xfrm>
            <a:off x="6236208" y="1170432"/>
            <a:ext cx="23317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03373"/>
                </a:solidFill>
              </a:defRPr>
            </a:lvl1pPr>
          </a:lstStyle>
          <a:p>
            <a:pPr/>
            <a:r>
              <a:t>Next steps</a:t>
            </a:r>
          </a:p>
        </p:txBody>
      </p:sp>
      <p:sp>
        <p:nvSpPr>
          <p:cNvPr id="368" name="Text 9"/>
          <p:cNvSpPr txBox="1"/>
          <p:nvPr/>
        </p:nvSpPr>
        <p:spPr>
          <a:xfrm>
            <a:off x="6236208" y="1508760"/>
            <a:ext cx="2359153" cy="161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500"/>
              </a:spcBef>
              <a:buSzPct val="100000"/>
              <a:buChar char="•"/>
              <a:defRPr sz="1200"/>
            </a:pPr>
            <a:r>
              <a:t>Scalable boundary-aware attention for higher-resolution decoder stages.</a:t>
            </a:r>
          </a:p>
          <a:p>
            <a:pPr marL="342900" indent="-342900">
              <a:spcBef>
                <a:spcPts val="500"/>
              </a:spcBef>
              <a:buSzPct val="100000"/>
              <a:buChar char="•"/>
              <a:defRPr sz="1200"/>
            </a:pPr>
            <a:r>
              <a:t>Learnable boundary filters adapted to each dataset.</a:t>
            </a:r>
          </a:p>
          <a:p>
            <a:pPr marL="342900" indent="-342900">
              <a:spcBef>
                <a:spcPts val="500"/>
              </a:spcBef>
              <a:buSzPct val="100000"/>
              <a:buChar char="•"/>
              <a:defRPr sz="1200"/>
            </a:pPr>
            <a:r>
              <a:t>More tumour types, plus lightweight variants for clinical use.</a:t>
            </a:r>
          </a:p>
        </p:txBody>
      </p:sp>
      <p:sp>
        <p:nvSpPr>
          <p:cNvPr id="369" name="closing-strip"/>
          <p:cNvSpPr/>
          <p:nvPr/>
        </p:nvSpPr>
        <p:spPr>
          <a:xfrm>
            <a:off x="411480" y="3520440"/>
            <a:ext cx="8321041" cy="411481"/>
          </a:xfrm>
          <a:prstGeom prst="roundRect">
            <a:avLst>
              <a:gd name="adj" fmla="val 17778"/>
            </a:avLst>
          </a:prstGeom>
          <a:solidFill>
            <a:srgbClr val="003373"/>
          </a:solidFill>
          <a:ln w="12700">
            <a:solidFill>
              <a:srgbClr val="003373"/>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70" name="Text 11"/>
          <p:cNvSpPr txBox="1"/>
          <p:nvPr/>
        </p:nvSpPr>
        <p:spPr>
          <a:xfrm>
            <a:off x="594359" y="3631500"/>
            <a:ext cx="3200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Thank you. Questions are welcome.</a:t>
            </a:r>
          </a:p>
        </p:txBody>
      </p:sp>
      <p:sp>
        <p:nvSpPr>
          <p:cNvPr id="371" name="Text 12"/>
          <p:cNvSpPr txBox="1"/>
          <p:nvPr/>
        </p:nvSpPr>
        <p:spPr>
          <a:xfrm>
            <a:off x="3840479" y="3647747"/>
            <a:ext cx="47548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Code and ablations: github.com/mukut02/MICAD_unet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5" name="Acknowledgment:"/>
          <p:cNvSpPr txBox="1"/>
          <p:nvPr>
            <p:ph type="title"/>
          </p:nvPr>
        </p:nvSpPr>
        <p:spPr>
          <a:prstGeom prst="rect">
            <a:avLst/>
          </a:prstGeom>
        </p:spPr>
        <p:txBody>
          <a:bodyPr/>
          <a:lstStyle/>
          <a:p>
            <a:pPr/>
            <a:r>
              <a:t>Acknowledgment:</a:t>
            </a:r>
          </a:p>
        </p:txBody>
      </p:sp>
      <p:sp>
        <p:nvSpPr>
          <p:cNvPr id="376" name="This work was supported by the Russian Science Foundation (Project № 26-19-00620)"/>
          <p:cNvSpPr txBox="1"/>
          <p:nvPr/>
        </p:nvSpPr>
        <p:spPr>
          <a:xfrm>
            <a:off x="253270" y="1336393"/>
            <a:ext cx="8089068"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 This work was supported by the Russian Science Foundation (Project № 26-19-00620)</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8" name="Text 0"/>
          <p:cNvSpPr txBox="1"/>
          <p:nvPr>
            <p:ph type="title"/>
          </p:nvPr>
        </p:nvSpPr>
        <p:spPr>
          <a:xfrm>
            <a:off x="411479" y="566927"/>
            <a:ext cx="8321042" cy="457201"/>
          </a:xfrm>
          <a:prstGeom prst="rect">
            <a:avLst/>
          </a:prstGeom>
        </p:spPr>
        <p:txBody>
          <a:bodyPr lIns="0" tIns="0" rIns="0" bIns="0" anchor="ctr"/>
          <a:lstStyle/>
          <a:p>
            <a:pPr/>
            <a:r>
              <a:t>References (1/4)</a:t>
            </a:r>
          </a:p>
        </p:txBody>
      </p:sp>
      <p:sp>
        <p:nvSpPr>
          <p:cNvPr id="379" name="card"/>
          <p:cNvSpPr/>
          <p:nvPr/>
        </p:nvSpPr>
        <p:spPr>
          <a:xfrm>
            <a:off x="411480" y="1097280"/>
            <a:ext cx="8321041" cy="2816352"/>
          </a:xfrm>
          <a:prstGeom prst="roundRect">
            <a:avLst>
              <a:gd name="adj" fmla="val 2597"/>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80" name="Text 2"/>
          <p:cNvSpPr txBox="1"/>
          <p:nvPr/>
        </p:nvSpPr>
        <p:spPr>
          <a:xfrm>
            <a:off x="566928" y="1170431"/>
            <a:ext cx="8028431" cy="23468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000"/>
            </a:pPr>
            <a:r>
              <a:t>[1] Ronneberger, O., Fischer, P., Brox, T.: U-Net: Convolutional Networks for Biomedical Image Segmentation. In: MICCAI, pp. 234–241. Springer (2015)</a:t>
            </a:r>
          </a:p>
          <a:p>
            <a:pPr>
              <a:spcBef>
                <a:spcPts val="300"/>
              </a:spcBef>
              <a:defRPr sz="1000"/>
            </a:pPr>
            <a:r>
              <a:t>[2] Graham, S., Vu, Q.D., Raza, S.E.A., Azam, A., Tsang, Y.W., Kwak, J.T., Rajpoot, N.: HoVer-Net: Simultaneous segmentation and classification of nuclei in multi-tissue histology images. Medical Image Analysis 58, 101563 (2019)</a:t>
            </a:r>
          </a:p>
          <a:p>
            <a:pPr>
              <a:spcBef>
                <a:spcPts val="300"/>
              </a:spcBef>
              <a:defRPr sz="1000"/>
            </a:pPr>
            <a:r>
              <a:t>[3] Roy, T., et al.: SAAMU-Net: A Selective Attention Aggregation and Memory-Augmented U-Net Model for Microscopic Medical Image Segmentation. In: 2025 XXVIII Int. Conf. on Soft Computing and Measurements (SCM). IEEE (2025)</a:t>
            </a:r>
          </a:p>
          <a:p>
            <a:pPr>
              <a:spcBef>
                <a:spcPts val="300"/>
              </a:spcBef>
              <a:defRPr sz="1000"/>
            </a:pPr>
            <a:r>
              <a:t>[4] Zhao, Y., et al.: DyGLNet: Hybrid global-local feature fusion with dynamic upsampling for medical image segmentation. Pattern Recognition, 112792 (2025)</a:t>
            </a:r>
          </a:p>
          <a:p>
            <a:pPr>
              <a:spcBef>
                <a:spcPts val="300"/>
              </a:spcBef>
              <a:defRPr sz="1000"/>
            </a:pPr>
            <a:r>
              <a:t>[5] Maity, G., Pramanik, S., Mandal, D., Kaplun, D., Gulvanskii, V., Sarkar, R.: VEGAN: A Vision-language and Edge-enhanced GAN-based Microscopic Medical Image Segmentation Model. IEEE (2025)</a:t>
            </a:r>
          </a:p>
          <a:p>
            <a:pPr>
              <a:spcBef>
                <a:spcPts val="300"/>
              </a:spcBef>
              <a:defRPr sz="1000"/>
            </a:pPr>
            <a:r>
              <a:t>[6] Geng, M., Huang, Q., Chen, Y., Zhang, X.: WDRE-NET: Wavelet-Differential Convolution and Region-Expansion to Enhance Weakly Supervised Adjacent Nuclei Segmentation. IEEE (2025)</a:t>
            </a:r>
          </a:p>
          <a:p>
            <a:pPr>
              <a:spcBef>
                <a:spcPts val="300"/>
              </a:spcBef>
              <a:defRPr sz="1000"/>
            </a:pPr>
            <a:r>
              <a:t>[7] Li, X., Zhu, W., Dong, X., Dumitrascu, O.M., Wang, Y.: EViT-UNET: U-Net Like Efficient Vision Transformer for Medical Image Segmentation on Mobile and Edge Devices. IEEE (2025)</a:t>
            </a:r>
          </a:p>
        </p:txBody>
      </p:sp>
      <p:sp>
        <p:nvSpPr>
          <p:cNvPr id="381" name="Slide Number Placeholder 0"/>
          <p:cNvSpPr txBox="1"/>
          <p:nvPr>
            <p:ph type="sldNum" sz="quarter" idx="4294967295"/>
          </p:nvPr>
        </p:nvSpPr>
        <p:spPr>
          <a:xfrm>
            <a:off x="8486770" y="4754879"/>
            <a:ext cx="245751"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Text 0"/>
          <p:cNvSpPr txBox="1"/>
          <p:nvPr>
            <p:ph type="title"/>
          </p:nvPr>
        </p:nvSpPr>
        <p:spPr>
          <a:xfrm>
            <a:off x="411479" y="566927"/>
            <a:ext cx="8321042" cy="457201"/>
          </a:xfrm>
          <a:prstGeom prst="rect">
            <a:avLst/>
          </a:prstGeom>
        </p:spPr>
        <p:txBody>
          <a:bodyPr lIns="0" tIns="0" rIns="0" bIns="0" anchor="ctr"/>
          <a:lstStyle/>
          <a:p>
            <a:pPr/>
            <a:r>
              <a:t>References (2/4)</a:t>
            </a:r>
          </a:p>
        </p:txBody>
      </p:sp>
      <p:sp>
        <p:nvSpPr>
          <p:cNvPr id="386" name="card"/>
          <p:cNvSpPr/>
          <p:nvPr/>
        </p:nvSpPr>
        <p:spPr>
          <a:xfrm>
            <a:off x="411480" y="1097280"/>
            <a:ext cx="8321041" cy="2816352"/>
          </a:xfrm>
          <a:prstGeom prst="roundRect">
            <a:avLst>
              <a:gd name="adj" fmla="val 2597"/>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87" name="Text 2"/>
          <p:cNvSpPr txBox="1"/>
          <p:nvPr/>
        </p:nvSpPr>
        <p:spPr>
          <a:xfrm>
            <a:off x="566928" y="1170431"/>
            <a:ext cx="8028431" cy="18896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000"/>
            </a:pPr>
            <a:r>
              <a:t>[8] Niu, Y., Reed, H., Yang, Q.: DeltaSegment: Multifidelity Medical Image Segmentation via Change Detection. In: 2026 IEEE 23rd ISBI, pp. 1–5. IEEE (2026). doi:10.1109/ISBI61048.2026.11515780</a:t>
            </a:r>
          </a:p>
          <a:p>
            <a:pPr>
              <a:spcBef>
                <a:spcPts val="300"/>
              </a:spcBef>
              <a:defRPr sz="1000"/>
            </a:pPr>
            <a:r>
              <a:t>[9] Nasir, E.S., et al.: AFINITI: attention-aware feature integration for nuclei instance segmentation and type identification. Neural Computing and Applications 36(29), 18343–18361 (2024)</a:t>
            </a:r>
          </a:p>
          <a:p>
            <a:pPr>
              <a:spcBef>
                <a:spcPts val="300"/>
              </a:spcBef>
              <a:defRPr sz="1000"/>
            </a:pPr>
            <a:r>
              <a:t>[10] Abraham, N., Khan, N.M.: A Novel Focal Tversky loss function with improved Attention U-Net for lesion segmentation. In: ISBI, pp. 683–687. IEEE (2019)</a:t>
            </a:r>
          </a:p>
          <a:p>
            <a:pPr>
              <a:spcBef>
                <a:spcPts val="300"/>
              </a:spcBef>
              <a:defRPr sz="1000"/>
            </a:pPr>
            <a:r>
              <a:t>[11] He, K., Zhang, X., Ren, S., Sun, J.: Deep Residual Learning for Image Recognition. In: CVPR, pp. 770–778. IEEE (2016)</a:t>
            </a:r>
          </a:p>
          <a:p>
            <a:pPr>
              <a:spcBef>
                <a:spcPts val="300"/>
              </a:spcBef>
              <a:defRPr sz="1000"/>
            </a:pPr>
            <a:r>
              <a:t>[12] Scharr, H.: Optimale Operatoren in der digitalen Bildverarbeitung. Doctoral dissertation, University of Heidelberg (2000)</a:t>
            </a:r>
          </a:p>
          <a:p>
            <a:pPr>
              <a:spcBef>
                <a:spcPts val="300"/>
              </a:spcBef>
              <a:defRPr sz="1000"/>
            </a:pPr>
            <a:r>
              <a:t>[13] Chen, L.-C., Papandreou, G., Schroff, F., Adam, H.: Rethinking Atrous Convolution for Semantic Image Segmentation. arXiv:1706.05587 (2017)</a:t>
            </a:r>
          </a:p>
          <a:p>
            <a:pPr>
              <a:spcBef>
                <a:spcPts val="300"/>
              </a:spcBef>
              <a:defRPr sz="1000"/>
            </a:pPr>
          </a:p>
        </p:txBody>
      </p:sp>
      <p:sp>
        <p:nvSpPr>
          <p:cNvPr id="388" name="Slide Number Placeholder 0"/>
          <p:cNvSpPr txBox="1"/>
          <p:nvPr>
            <p:ph type="sldNum" sz="quarter" idx="4294967295"/>
          </p:nvPr>
        </p:nvSpPr>
        <p:spPr>
          <a:xfrm>
            <a:off x="8486770" y="4754879"/>
            <a:ext cx="245751"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2" name="Text 0"/>
          <p:cNvSpPr txBox="1"/>
          <p:nvPr>
            <p:ph type="title"/>
          </p:nvPr>
        </p:nvSpPr>
        <p:spPr>
          <a:xfrm>
            <a:off x="411479" y="566927"/>
            <a:ext cx="8321042" cy="457201"/>
          </a:xfrm>
          <a:prstGeom prst="rect">
            <a:avLst/>
          </a:prstGeom>
        </p:spPr>
        <p:txBody>
          <a:bodyPr lIns="0" tIns="0" rIns="0" bIns="0" anchor="ctr"/>
          <a:lstStyle/>
          <a:p>
            <a:pPr/>
            <a:r>
              <a:t>References (3/4)</a:t>
            </a:r>
          </a:p>
        </p:txBody>
      </p:sp>
      <p:sp>
        <p:nvSpPr>
          <p:cNvPr id="393" name="card"/>
          <p:cNvSpPr/>
          <p:nvPr/>
        </p:nvSpPr>
        <p:spPr>
          <a:xfrm>
            <a:off x="411480" y="1097280"/>
            <a:ext cx="8321041" cy="2816352"/>
          </a:xfrm>
          <a:prstGeom prst="roundRect">
            <a:avLst>
              <a:gd name="adj" fmla="val 2597"/>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394" name="Text 2"/>
          <p:cNvSpPr txBox="1"/>
          <p:nvPr/>
        </p:nvSpPr>
        <p:spPr>
          <a:xfrm>
            <a:off x="566928" y="1170431"/>
            <a:ext cx="8028431" cy="18134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000"/>
            </a:pPr>
            <a:r>
              <a:t>[14] Oktay, O., et al.: Attention U-Net: Learning Where to Look for the Pancreas. In: MIDL (2018)</a:t>
            </a:r>
          </a:p>
          <a:p>
            <a:pPr>
              <a:spcBef>
                <a:spcPts val="300"/>
              </a:spcBef>
              <a:defRPr sz="1000"/>
            </a:pPr>
            <a:r>
              <a:t>[15] Beucher, S., Meyer, F.: The morphological approach to segmentation: the watershed transformation. In: Mathematical Morphology in Image Processing, pp. 433–481. Marcel Dekker (1993)</a:t>
            </a:r>
          </a:p>
          <a:p>
            <a:pPr>
              <a:spcBef>
                <a:spcPts val="300"/>
              </a:spcBef>
              <a:defRPr sz="1000"/>
            </a:pPr>
            <a:r>
              <a:t>[16] Naylor, P., Lae, M., Reyal, F., Walter, T.: Segmentation of nuclei in histopathology images by deep regression of the distance map. IEEE TMI 38(2), 448–459 (2018)</a:t>
            </a:r>
          </a:p>
          <a:p>
            <a:pPr>
              <a:spcBef>
                <a:spcPts val="300"/>
              </a:spcBef>
              <a:defRPr sz="1000"/>
            </a:pPr>
            <a:r>
              <a:t>[17] Kumar, N., Verma, R., Anand, D., et al.: A multi-organ nucleus segmentation challenge. IEEE TMI 39(5), 1380–1391 (2019)</a:t>
            </a:r>
          </a:p>
          <a:p>
            <a:pPr>
              <a:spcBef>
                <a:spcPts val="300"/>
              </a:spcBef>
              <a:defRPr sz="1000"/>
            </a:pPr>
            <a:r>
              <a:t>[18] Kumar, N., Verma, R., Sharma, S., Bhargava, S., Vahadane, A., Sethi, A.: A Dataset and a Technique for Generalized Nuclear Segmentation for Computational Pathology. IEEE TMI 36(7), 1550–1560 (2017)</a:t>
            </a:r>
          </a:p>
          <a:p>
            <a:pPr>
              <a:spcBef>
                <a:spcPts val="300"/>
              </a:spcBef>
              <a:defRPr sz="1000"/>
            </a:pPr>
            <a:r>
              <a:t>[19] Sandler, M., Howard, A., Zhu, M., Zhmoginov, A., Chen, L.-C.: MobileNetV2: Inverted residuals and linear bottlenecks. In: CVPR, pp. 4510–4520. IEEE (2018)</a:t>
            </a:r>
          </a:p>
        </p:txBody>
      </p:sp>
      <p:sp>
        <p:nvSpPr>
          <p:cNvPr id="395" name="Slide Number Placeholder 0"/>
          <p:cNvSpPr txBox="1"/>
          <p:nvPr>
            <p:ph type="sldNum" sz="quarter" idx="4294967295"/>
          </p:nvPr>
        </p:nvSpPr>
        <p:spPr>
          <a:xfrm>
            <a:off x="8486770" y="4754879"/>
            <a:ext cx="245751"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Text 0"/>
          <p:cNvSpPr txBox="1"/>
          <p:nvPr>
            <p:ph type="title"/>
          </p:nvPr>
        </p:nvSpPr>
        <p:spPr>
          <a:xfrm>
            <a:off x="411479" y="566927"/>
            <a:ext cx="8321042" cy="457201"/>
          </a:xfrm>
          <a:prstGeom prst="rect">
            <a:avLst/>
          </a:prstGeom>
        </p:spPr>
        <p:txBody>
          <a:bodyPr lIns="0" tIns="0" rIns="0" bIns="0" anchor="ctr"/>
          <a:lstStyle/>
          <a:p>
            <a:pPr/>
            <a:r>
              <a:t>References (4/4)</a:t>
            </a:r>
          </a:p>
        </p:txBody>
      </p:sp>
      <p:sp>
        <p:nvSpPr>
          <p:cNvPr id="400" name="card"/>
          <p:cNvSpPr/>
          <p:nvPr/>
        </p:nvSpPr>
        <p:spPr>
          <a:xfrm>
            <a:off x="411480" y="1097280"/>
            <a:ext cx="8321041" cy="2816352"/>
          </a:xfrm>
          <a:prstGeom prst="roundRect">
            <a:avLst>
              <a:gd name="adj" fmla="val 2597"/>
            </a:avLst>
          </a:prstGeom>
          <a:solidFill>
            <a:srgbClr val="FFFFFF"/>
          </a:solidFill>
          <a:ln w="12700">
            <a:solidFill>
              <a:srgbClr val="FFFFFF"/>
            </a:solidFill>
          </a:ln>
          <a:effectLst>
            <a:outerShdw sx="100000" sy="100000" kx="0" ky="0" algn="b" rotWithShape="0" blurRad="101600" dist="25400" dir="5400000">
              <a:srgbClr val="1D3A6B">
                <a:alpha val="14000"/>
              </a:srgbClr>
            </a:outerShdw>
          </a:effectLst>
        </p:spPr>
        <p:txBody>
          <a:bodyPr lIns="45719" rIns="45719"/>
          <a:lstStyle/>
          <a:p>
            <a:pPr/>
          </a:p>
        </p:txBody>
      </p:sp>
      <p:sp>
        <p:nvSpPr>
          <p:cNvPr id="401" name="Text 2"/>
          <p:cNvSpPr txBox="1"/>
          <p:nvPr/>
        </p:nvSpPr>
        <p:spPr>
          <a:xfrm>
            <a:off x="566928" y="1170431"/>
            <a:ext cx="8028431" cy="14832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300"/>
              </a:spcBef>
              <a:defRPr sz="1000"/>
            </a:pPr>
            <a:r>
              <a:t>[20] Tan, M., Le, Q.V.: EfficientNet: Rethinking model scaling for convolutional neural networks. In: ICML, pp. 6105–6114. PMLR (2019)</a:t>
            </a:r>
          </a:p>
          <a:p>
            <a:pPr>
              <a:spcBef>
                <a:spcPts val="300"/>
              </a:spcBef>
              <a:defRPr sz="1000"/>
            </a:pPr>
            <a:r>
              <a:t>[21] Iandola, F.N., et al.: SqueezeNet: AlexNet-level accuracy with 50x fewer parameters and &lt;0.5MB model size. arXiv:1602.07360 (2016)</a:t>
            </a:r>
          </a:p>
          <a:p>
            <a:pPr>
              <a:spcBef>
                <a:spcPts val="300"/>
              </a:spcBef>
              <a:defRPr sz="1000"/>
            </a:pPr>
            <a:r>
              <a:t>[22] Chen, L., Lu, X., Zhang, J., Chu, X., Chen, C.: HINet: Half instance normalization network for image restoration (2022)</a:t>
            </a:r>
          </a:p>
          <a:p>
            <a:pPr>
              <a:spcBef>
                <a:spcPts val="300"/>
              </a:spcBef>
              <a:defRPr sz="1000"/>
            </a:pPr>
            <a:r>
              <a:t>[23] Raza, S.E.A., et al.: Micro-Net: A unified model for segmentation of various objects in microscopy images. Medical Image Analysis 52, 160–173 (2019)</a:t>
            </a:r>
          </a:p>
          <a:p>
            <a:pPr>
              <a:spcBef>
                <a:spcPts val="300"/>
              </a:spcBef>
              <a:defRPr sz="1000"/>
            </a:pPr>
            <a:r>
              <a:t>[24] Zhou, Z., Siddiquee, M.M.R., Tajbakhsh, N., Liang, J.: U-Net++: A nested U-Net architecture for medical image segmentation. In: DLMIA and ML-CDS, pp. 3–11. Springer (2018)</a:t>
            </a:r>
          </a:p>
          <a:p>
            <a:pPr>
              <a:spcBef>
                <a:spcPts val="300"/>
              </a:spcBef>
              <a:defRPr sz="1000"/>
            </a:pPr>
            <a:r>
              <a:t>[25] Das, N., Saha, S., Nasipuri, M., Basu, S., Chakraborti, T.: Deep-fuzz: A synergistic integration of deep learning and fuzzy water flows for fine-grained nuclei segmentation in digital pathology. PLOS ONE 18(6), e0286862 (2023)</a:t>
            </a:r>
          </a:p>
        </p:txBody>
      </p:sp>
      <p:sp>
        <p:nvSpPr>
          <p:cNvPr id="402" name="Slide Number Placeholder 0"/>
          <p:cNvSpPr txBox="1"/>
          <p:nvPr>
            <p:ph type="sldNum" sz="quarter" idx="4294967295"/>
          </p:nvPr>
        </p:nvSpPr>
        <p:spPr>
          <a:xfrm>
            <a:off x="8486770" y="4754879"/>
            <a:ext cx="245751" cy="22570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MICAD 2026 BISON">
  <a:themeElements>
    <a:clrScheme name="MICAD 2026 BISON">
      <a:dk1>
        <a:srgbClr val="14213D"/>
      </a:dk1>
      <a:lt1>
        <a:srgbClr val="3D3729"/>
      </a:lt1>
      <a:dk2>
        <a:srgbClr val="A7A7A7"/>
      </a:dk2>
      <a:lt2>
        <a:srgbClr val="535353"/>
      </a:lt2>
      <a:accent1>
        <a:srgbClr val="1D6FC0"/>
      </a:accent1>
      <a:accent2>
        <a:srgbClr val="29A8E0"/>
      </a:accent2>
      <a:accent3>
        <a:srgbClr val="2A508E"/>
      </a:accent3>
      <a:accent4>
        <a:srgbClr val="A9D3F0"/>
      </a:accent4>
      <a:accent5>
        <a:srgbClr val="E07B39"/>
      </a:accent5>
      <a:accent6>
        <a:srgbClr val="5B6B82"/>
      </a:accent6>
      <a:hlink>
        <a:srgbClr val="0000FF"/>
      </a:hlink>
      <a:folHlink>
        <a:srgbClr val="FF00FF"/>
      </a:folHlink>
    </a:clrScheme>
    <a:fontScheme name="MICAD 2026 BISON">
      <a:majorFont>
        <a:latin typeface="Calibri"/>
        <a:ea typeface="Calibri"/>
        <a:cs typeface="Calibri"/>
      </a:majorFont>
      <a:minorFont>
        <a:latin typeface="Helvetica"/>
        <a:ea typeface="Helvetica"/>
        <a:cs typeface="Helvetica"/>
      </a:minorFont>
    </a:fontScheme>
    <a:fmtScheme name="MICAD 2026 BIS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MICAD 2026 BISON">
  <a:themeElements>
    <a:clrScheme name="MICAD 2026 BISON">
      <a:dk1>
        <a:srgbClr val="14213D"/>
      </a:dk1>
      <a:lt1>
        <a:srgbClr val="3D3729"/>
      </a:lt1>
      <a:dk2>
        <a:srgbClr val="A7A7A7"/>
      </a:dk2>
      <a:lt2>
        <a:srgbClr val="535353"/>
      </a:lt2>
      <a:accent1>
        <a:srgbClr val="1D6FC0"/>
      </a:accent1>
      <a:accent2>
        <a:srgbClr val="29A8E0"/>
      </a:accent2>
      <a:accent3>
        <a:srgbClr val="2A508E"/>
      </a:accent3>
      <a:accent4>
        <a:srgbClr val="A9D3F0"/>
      </a:accent4>
      <a:accent5>
        <a:srgbClr val="E07B39"/>
      </a:accent5>
      <a:accent6>
        <a:srgbClr val="5B6B82"/>
      </a:accent6>
      <a:hlink>
        <a:srgbClr val="0000FF"/>
      </a:hlink>
      <a:folHlink>
        <a:srgbClr val="FF00FF"/>
      </a:folHlink>
    </a:clrScheme>
    <a:fontScheme name="MICAD 2026 BISON">
      <a:majorFont>
        <a:latin typeface="Calibri"/>
        <a:ea typeface="Calibri"/>
        <a:cs typeface="Calibri"/>
      </a:majorFont>
      <a:minorFont>
        <a:latin typeface="Helvetica"/>
        <a:ea typeface="Helvetica"/>
        <a:cs typeface="Helvetica"/>
      </a:minorFont>
    </a:fontScheme>
    <a:fmtScheme name="MICAD 2026 BIS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4213D"/>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